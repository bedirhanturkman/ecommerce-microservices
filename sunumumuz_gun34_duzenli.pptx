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23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kapakta proje amacını tek cümlede ver. Eğitim sunumu değil, staj sürecinde alınan kararların hikayesi olduğunu vurgula.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897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 Boot Microservice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E-Ticaret Backend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58368" y="2788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Staj sürecinde gün gün öğrendiklerim ve projeye uyguladığım mimari kararlar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83880" y="1874520"/>
            <a:ext cx="914400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9829800" y="1874520"/>
            <a:ext cx="822960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1018520" y="2331720"/>
            <a:ext cx="0" cy="68580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995160" y="1481328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068312" y="1536192"/>
            <a:ext cx="99669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Postman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0" y="1444752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9217152" y="1499616"/>
            <a:ext cx="11338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698480" y="1444752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0771632" y="1499616"/>
            <a:ext cx="11795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424160" y="31546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10497312" y="3209544"/>
            <a:ext cx="12252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0" y="37033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0497312" y="3758184"/>
            <a:ext cx="12252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4206240"/>
            <a:ext cx="5029200" cy="301752"/>
          </a:xfrm>
          <a:prstGeom prst="roundRect">
            <a:avLst/>
          </a:prstGeom>
          <a:solidFill>
            <a:srgbClr val="22D3EE">
              <a:alpha val="9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49808" y="42702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• Spring Boot • Docker • MongoDB • PostgreSQL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4709160"/>
            <a:ext cx="7680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Amaç: Spring Boot microservice mimaride PostgreSQL, Docker ve MongoDB kullanarak bir e-ticaret sitesi backend’i geliştirmek.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 Taslağı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Servisler ve veri tabanı tercihleri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MİMARİ BAKIŞ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2743200"/>
            <a:ext cx="100584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926080" y="2743200"/>
            <a:ext cx="91440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 flipV="1">
            <a:off x="4572000" y="1600200"/>
            <a:ext cx="1005840" cy="54864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572000" y="2743200"/>
            <a:ext cx="1005840" cy="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572000" y="3337560"/>
            <a:ext cx="1005840" cy="59436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804672" y="2478024"/>
            <a:ext cx="8595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Postman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40280" y="24231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313432" y="2478024"/>
            <a:ext cx="9509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86200" y="242316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959352" y="2478024"/>
            <a:ext cx="9966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715000" y="123444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788152" y="1289304"/>
            <a:ext cx="1773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customer-service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15000" y="242316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788152" y="2478024"/>
            <a:ext cx="1773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order-service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15000" y="361188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788152" y="3666744"/>
            <a:ext cx="1773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product-service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0" y="1965960"/>
            <a:ext cx="3017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servis kendi iş alanından sorumlu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servisin kendi veritabanı var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Geliştirme süreci Postman ve Docker ile test edildi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77240" y="5166360"/>
            <a:ext cx="5303520" cy="301752"/>
          </a:xfrm>
          <a:prstGeom prst="round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868680" y="523036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İleride: payment-service • notification-service • seller flows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 Boot Temelleri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Katmanlı </a:t>
            </a:r>
            <a:r>
              <a:rPr lang="en-US" sz="14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mimariyi</a:t>
            </a: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</a:t>
            </a:r>
            <a:r>
              <a:rPr lang="tr-TR" sz="14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</a:t>
            </a:r>
            <a:r>
              <a:rPr lang="tr-TR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2743200"/>
            <a:ext cx="70866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749040" y="2743200"/>
            <a:ext cx="978824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577839" y="2743200"/>
            <a:ext cx="1197033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406640" y="2743200"/>
            <a:ext cx="109728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685800" y="2331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58952" y="2386584"/>
            <a:ext cx="14996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istekleri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2331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816352" y="2386584"/>
            <a:ext cx="14996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İş kuralları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873752" y="2386584"/>
            <a:ext cx="14996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işlemleri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2331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931152" y="2386584"/>
            <a:ext cx="14996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Dış dünya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15400" y="2331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988552" y="2386584"/>
            <a:ext cx="14996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modeli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251960"/>
            <a:ext cx="66751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Maven ile dependency yönetimini gördüm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REST API: endpoint, request, response, request body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Entity’yi doğrudan dış dünyaya açmamak için DTO kullandım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68680" y="559612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Miri arar: Projeyi Controller → Service → Repository katmanlarıyla başlatmak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A94A0E5E-840D-E6E2-8EF6-F96B1E6B4383}"/>
              </a:ext>
            </a:extLst>
          </p:cNvPr>
          <p:cNvSpPr/>
          <p:nvPr/>
        </p:nvSpPr>
        <p:spPr>
          <a:xfrm>
            <a:off x="409402" y="394439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1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Service ve Database-First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Monolith / microservice ayrımını öğrendim; ilk servisi kurdum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TASARIM KARARI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2240280"/>
            <a:ext cx="100584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114800" y="2240280"/>
            <a:ext cx="100584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6126480" y="2240280"/>
            <a:ext cx="100584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868680" y="18745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941832" y="1929384"/>
            <a:ext cx="14996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18745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2953512" y="1929384"/>
            <a:ext cx="14996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Tabloyu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manuel oluştur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18745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965192" y="1929384"/>
            <a:ext cx="14996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tabloya göre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8745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976872" y="1929384"/>
            <a:ext cx="14996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ddl-auto: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0684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</a:rPr>
              <a:t>Neden?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06840" y="2148840"/>
            <a:ext cx="25603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Hibernate tabloyu değiştirmez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Entity–DB uyumsuzluğu erken yakalanır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Production verisi kontrolsüz değişmez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6868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customer-service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480560"/>
            <a:ext cx="47548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Entity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CustomerRepository extends JpaRepository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CreateCustomerRequest / CustomerResponse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/api/v1/customers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68680" y="5870448"/>
            <a:ext cx="7589520" cy="301752"/>
          </a:xfrm>
          <a:prstGeom prst="round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960120" y="5934456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İlk bağımsız microservice + database-first geliştirme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E0CE0338-6AF8-597D-6118-42C47050D2F2}"/>
              </a:ext>
            </a:extLst>
          </p:cNvPr>
          <p:cNvSpPr/>
          <p:nvPr/>
        </p:nvSpPr>
        <p:spPr>
          <a:xfrm>
            <a:off x="502920" y="384049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2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Service: Sipariş Modelini Gerçekçi Hale Getirme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ilişkileri, foreign key ve snapshot mantığını projeye uyguladım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9659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87552" y="2020824"/>
            <a:ext cx="1865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Sipariş ana bilgisi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2331720"/>
            <a:ext cx="1188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160520" y="19659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233672" y="2020824"/>
            <a:ext cx="1865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order_items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Ürün satırları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331720"/>
            <a:ext cx="118872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406640" y="19659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479792" y="2020824"/>
            <a:ext cx="200253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snapshot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+ price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Neden iki tablo?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840480"/>
            <a:ext cx="47548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Bir sipariş birden fazla ürün içerebilir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order_id aynı service içinde FK olarak tutuldu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customer_id için cross-service FK kurulmadı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</a:rPr>
              <a:t>Snapshot kararının sonucu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840480"/>
            <a:ext cx="47548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Ürün fiyatı sonra değişse bile eski sipariş değişmez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Sipariş anındaki product_name ve unit_price saklanır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 tutarlılığı domain seviyesinde korunur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14400" y="5623560"/>
            <a:ext cx="9601200" cy="301752"/>
          </a:xfrm>
          <a:prstGeom prst="round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005840" y="568756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Microservice’ler</a:t>
            </a: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arası ilişki DB foreign key ile değil API seviyesinde kurulacak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22E97D67-5098-0011-C4D4-D85D34C6EECD}"/>
              </a:ext>
            </a:extLst>
          </p:cNvPr>
          <p:cNvSpPr/>
          <p:nvPr/>
        </p:nvSpPr>
        <p:spPr>
          <a:xfrm>
            <a:off x="388620" y="352044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3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Service ve NoSQL Tasarımı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servis için uygun veritabanı seçilebileceğini uyguladım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POLYGLOT PERSISTENCE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96112" y="2066544"/>
            <a:ext cx="15910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96112" y="3026664"/>
            <a:ext cx="15910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896112" y="3986784"/>
            <a:ext cx="15910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4297680"/>
            <a:ext cx="100584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931920" y="38862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005072" y="3941064"/>
            <a:ext cx="191109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@Document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 collection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1920240"/>
            <a:ext cx="4663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Ürün verisi esnek ve doküman bazlı tutulabilir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Okuma ağırlıklı ürün senaryoları için MongoDB seçildi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 + MongoDB Compass + Postman ile test edildi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794760"/>
            <a:ext cx="4663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Dependency Injection mantığını daha iyi kavradım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DTO’larda Java record kullandım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Entity yerine MongoDB Document kavramını uyguladım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5669280"/>
            <a:ext cx="6949440" cy="301752"/>
          </a:xfrm>
          <a:prstGeom prst="round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914400" y="573328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microservice kendi veri modeline uygun DB seçebilir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F8F4E4E6-0E6F-A54E-12D1-DC74465841B6}"/>
              </a:ext>
            </a:extLst>
          </p:cNvPr>
          <p:cNvSpPr/>
          <p:nvPr/>
        </p:nvSpPr>
        <p:spPr>
          <a:xfrm>
            <a:off x="457200" y="38404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4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 Security ve JWT Authentication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projesinden gerçek giriş/rol sistemine geçiş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→ ÇÖZÜM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41832" y="1837944"/>
            <a:ext cx="314553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Herkes customer oluşturabiliyor ve listeleyebiliyordu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2286000"/>
            <a:ext cx="11430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5486400" y="17830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559552" y="1837944"/>
            <a:ext cx="277977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Çözüm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/auth/register + /auth/login + JWT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03920" y="2286000"/>
            <a:ext cx="73152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932688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400032" y="1837944"/>
            <a:ext cx="168249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ADMIN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Yeni güvenlik akışı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194560" y="4572000"/>
            <a:ext cx="91440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749040" y="4572000"/>
            <a:ext cx="91440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303520" y="4572000"/>
            <a:ext cx="91440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858000" y="4572000"/>
            <a:ext cx="91440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1097280" y="434340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1170432" y="4398264"/>
            <a:ext cx="722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80360" y="434340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2953512" y="4398264"/>
            <a:ext cx="722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BCrypt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434340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507992" y="4398264"/>
            <a:ext cx="722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434340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062472" y="4398264"/>
            <a:ext cx="722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43800" y="434340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616952" y="4398264"/>
            <a:ext cx="11795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SecurityContext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" y="5303520"/>
            <a:ext cx="8686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STATELESS session mantığı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CSRF kapatıldı: REST API + Bearer token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GET /customers/me USER/ADMIN, GET /customers sadece ADMIN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57AD9F11-E213-56C4-D3D7-E8C96078C224}"/>
              </a:ext>
            </a:extLst>
          </p:cNvPr>
          <p:cNvSpPr/>
          <p:nvPr/>
        </p:nvSpPr>
        <p:spPr>
          <a:xfrm>
            <a:off x="502920" y="38404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5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 Cloud’a Geçiş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Servisler çalışıyordu ama hâlâ port bağımlılığı vardı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ÖNCEKİ DURUM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41832" y="2020824"/>
            <a:ext cx="19568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customer-service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localhost:8081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288036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941832" y="2935224"/>
            <a:ext cx="19568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product-service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localhost:8083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79476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941832" y="3849624"/>
            <a:ext cx="19568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order-service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localhost:8082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3200400"/>
            <a:ext cx="1417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892040" y="214884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965192" y="2203704"/>
            <a:ext cx="2048256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Cloud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Discovery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Balancing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3200400"/>
            <a:ext cx="10972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8641080" y="256032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8714232" y="2615184"/>
            <a:ext cx="20025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Servis adıyla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haberleşme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303520"/>
            <a:ext cx="9875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Spring Boot tek başına yeterli değildi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Service discovery, gateway ve load balancing ihtiyacı ortaya çıktı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Spring Cloud ve Spring Cloud Netflix bileşenleri incelendi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E20D141D-DE86-571B-0417-84DC21EA506E}"/>
              </a:ext>
            </a:extLst>
          </p:cNvPr>
          <p:cNvSpPr/>
          <p:nvPr/>
        </p:nvSpPr>
        <p:spPr>
          <a:xfrm>
            <a:off x="502920" y="38404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6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Eureka + API Gateway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giriş noktası ve dinamik servis keşfi kuruldu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YENİ AKIŞ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2743200"/>
            <a:ext cx="109728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749040" y="2743200"/>
            <a:ext cx="109728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 flipV="1">
            <a:off x="5623560" y="1851660"/>
            <a:ext cx="989215" cy="411479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5577840" y="2743200"/>
            <a:ext cx="1097280" cy="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5612753" y="3218688"/>
            <a:ext cx="1034935" cy="576072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868680" y="242316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941832" y="2478024"/>
            <a:ext cx="8595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233172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770632" y="2386584"/>
            <a:ext cx="9509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233172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599432" y="2386584"/>
            <a:ext cx="9509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Eureka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150876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793992" y="1563624"/>
            <a:ext cx="1088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248716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793992" y="2542032"/>
            <a:ext cx="1088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20840" y="3465576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793992" y="3520440"/>
            <a:ext cx="14081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/ Order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3252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Gateway ne kazandırdı?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32520" y="2011680"/>
            <a:ext cx="28346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İstemci tek port bilir: 8080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Routing merkezi hale geldi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JWT kontrolü için ortak giriş noktası oluştu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68680" y="5349240"/>
            <a:ext cx="6675120" cy="301752"/>
          </a:xfrm>
          <a:prstGeom prst="round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960120" y="541324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artık servis portlarını değil Gateway’i bilir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05DF7BFE-AF36-A832-FF96-22626816370A}"/>
              </a:ext>
            </a:extLst>
          </p:cNvPr>
          <p:cNvSpPr/>
          <p:nvPr/>
        </p:nvSpPr>
        <p:spPr>
          <a:xfrm>
            <a:off x="548640" y="40690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6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Service’e Ayrışma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Service’in sorumluluğu sadeleştirildi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 / SONRA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41832" y="1929384"/>
            <a:ext cx="282549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Service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+ register + JWT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yönetimi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2578608"/>
            <a:ext cx="914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5166360" y="16002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239512" y="1655064"/>
            <a:ext cx="232257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Sonra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Service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+ register + JWT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66360" y="288036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239512" y="2935224"/>
            <a:ext cx="23225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Service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domain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18120" y="2075688"/>
            <a:ext cx="914400" cy="82296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8915400" y="23317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988552" y="2386584"/>
            <a:ext cx="19110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RestClient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Service-to-Service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9418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Single Responsibility Principle uygulandı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Authentication bağımsız ölçeklenebilir hale geldi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Gateway üzerinden /api/v1/auth/** çalıştırıldı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02DD0D29-C72C-CEDB-7817-D2A7731DA754}"/>
              </a:ext>
            </a:extLst>
          </p:cNvPr>
          <p:cNvSpPr/>
          <p:nvPr/>
        </p:nvSpPr>
        <p:spPr>
          <a:xfrm>
            <a:off x="502920" y="384879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7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Güvenlik Mimarisi Yeniden Tasarlandı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kararını Gateway mi verecek, servis mi?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 NOKTASI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41832" y="1883664"/>
            <a:ext cx="351129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Alternatif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JWT + Role kontrolü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Servis pasif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18288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788152" y="1883664"/>
            <a:ext cx="378561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Alternatif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JWT doğrular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Servis tekrar doğrular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@PreAuthorize karar verir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Neden 2. yapı?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7589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Yetkilendirme business logic’e yakın kalır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@PreAuthorize ile standart Spring Security kullanılır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Gateway atlatılsa bile servis kendi güvenliğini korur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5715000"/>
            <a:ext cx="7040880" cy="301752"/>
          </a:xfrm>
          <a:prstGeom prst="round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60120" y="57790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Yetkilendirme</a:t>
            </a: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servislerde, ilk doğrulama Gateway’de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8541608B-43C5-83CC-4953-AB329B36A214}"/>
              </a:ext>
            </a:extLst>
          </p:cNvPr>
          <p:cNvSpPr/>
          <p:nvPr/>
        </p:nvSpPr>
        <p:spPr>
          <a:xfrm>
            <a:off x="533400" y="356200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8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Defense in Depth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Güvenlik tek katmanlı olmaktan çıktı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İKİ KATMANLI DOĞRULAMA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2788920"/>
            <a:ext cx="109728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977640" y="2788920"/>
            <a:ext cx="109728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6217920" y="2788920"/>
            <a:ext cx="109728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24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58952" y="2478024"/>
            <a:ext cx="11795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Bearer JWT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23317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2907792" y="2386584"/>
            <a:ext cx="136245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Validation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74920" y="23317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148072" y="2386584"/>
            <a:ext cx="140817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Validation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23317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388352" y="2386584"/>
            <a:ext cx="14996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@PreAuthorize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hasRole()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Kazanım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663440"/>
            <a:ext cx="91440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Gateway ilk savunma katmanı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microservice ikinci savunma katmanı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Güvenlik kararı Spring Security standardı ile veriliyor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13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988156B6-3667-19C3-7A57-C39AF4235293}"/>
              </a:ext>
            </a:extLst>
          </p:cNvPr>
          <p:cNvSpPr/>
          <p:nvPr/>
        </p:nvSpPr>
        <p:spPr>
          <a:xfrm>
            <a:off x="533400" y="380307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8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 Server Yaklaşımı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JWT kodundan Spring Security standardına geçiş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ESKİ / YENİ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41832" y="1837944"/>
            <a:ext cx="309981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Eski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JwtFilter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JwtService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SecurityContext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423160"/>
            <a:ext cx="914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5440680" y="1828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513832" y="1883664"/>
            <a:ext cx="204825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OAuth2 Resource Server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2286000"/>
            <a:ext cx="777240" cy="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732520" y="16002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805672" y="1655064"/>
            <a:ext cx="250545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BearerTokenAuthenticationFilter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JwtDecoder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JwtAuthenticationConverter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Neden geçtik?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526280"/>
            <a:ext cx="86868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Framework’ün hazır güvenlik mekanizması kullanıldı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Bakımı zor custom kod azaltıldı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Production standartlarına daha yakın bir yapı kuruldu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5687568"/>
            <a:ext cx="8595360" cy="301752"/>
          </a:xfrm>
          <a:prstGeom prst="round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960120" y="575157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SecurityContext</a:t>
            </a: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artık Spring Security tarafından otomatik oluşturuluyor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14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838E5EC4-4778-7AD3-8712-097D6E7140C8}"/>
              </a:ext>
            </a:extLst>
          </p:cNvPr>
          <p:cNvSpPr/>
          <p:nvPr/>
        </p:nvSpPr>
        <p:spPr>
          <a:xfrm>
            <a:off x="548640" y="388204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9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 Server: Merkezi Konfigürasyon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kullanmadan Native Config Server ile ortak ayarlar tek yere taşındı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 / SONRA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41832" y="2066544"/>
            <a:ext cx="22311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serviste ayrı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application.yml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2468880"/>
            <a:ext cx="914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572000" y="19659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645152" y="2020824"/>
            <a:ext cx="177393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8888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400" y="2468880"/>
            <a:ext cx="9144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772400" y="1874520"/>
            <a:ext cx="242316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845552" y="1929384"/>
            <a:ext cx="227685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configrepo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application.yml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service.yml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Merkezi taşıdık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407408"/>
            <a:ext cx="5029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jwt.secret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Eureka ortak ayarları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Servis portları, datasource ve MongoDB ayarları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</a:rPr>
              <a:t>Servis application.yml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4434840"/>
            <a:ext cx="4389120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spring: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application: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name: customer-service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config: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import: optional:configserver:http://localhost:8888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Microservice Backend • Staj Süreci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15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760F20E8-3EBE-E00A-3987-DCE5BFC482A8}"/>
              </a:ext>
            </a:extLst>
          </p:cNvPr>
          <p:cNvSpPr/>
          <p:nvPr/>
        </p:nvSpPr>
        <p:spPr>
          <a:xfrm>
            <a:off x="502920" y="357032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9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GitHub, Config Güvenliği ve Proje Düzeni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Çalışan yapıyı takip edilebilir, güvenli ve sürdürülebilir hale getirdim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65760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KODDAN PROJE YÖNETİMİNE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3749039" cy="2560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Private GitHub repository + monorepo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11680"/>
            <a:ext cx="3886200" cy="1874519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l"/>
            <a:r>
              <a:rPr sz="1200" b="0">
                <a:solidFill>
                  <a:srgbClr val="E2E8F0"/>
                </a:solidFill>
                <a:latin typeface="Cascadia Mono"/>
              </a:rPr>
              <a:t>ecommerce-microservices/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scadia Mono"/>
              </a:rPr>
              <a:t>├── eureka-server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scadia Mono"/>
              </a:rPr>
              <a:t>├── config-server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scadia Mono"/>
              </a:rPr>
              <a:t>├── api-gateway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scadia Mono"/>
              </a:rPr>
              <a:t>├── auth-service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scadia Mono"/>
              </a:rPr>
              <a:t>├── customer-service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scadia Mono"/>
              </a:rPr>
              <a:t>├── product-service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scadia Mono"/>
              </a:rPr>
              <a:t>└── order-service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691640"/>
            <a:ext cx="5212080" cy="2560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Aptos"/>
              </a:rPr>
              <a:t>Gizli / ortama bağlı değerler dışarı alındı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011680"/>
            <a:ext cx="5989320" cy="146304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l"/>
            <a:r>
              <a:rPr sz="1100" b="0">
                <a:solidFill>
                  <a:srgbClr val="E2E8F0"/>
                </a:solidFill>
                <a:latin typeface="Cascadia Mono"/>
              </a:rPr>
              <a:t>jwt:</a:t>
            </a:r>
          </a:p>
          <a:p>
            <a:pPr algn="l"/>
            <a:r>
              <a:rPr sz="1100" b="0">
                <a:solidFill>
                  <a:srgbClr val="E2E8F0"/>
                </a:solidFill>
                <a:latin typeface="Cascadia Mono"/>
              </a:rPr>
              <a:t>  secret: ${JWT_SECRET:change-me-local-dev-secret-32chars}</a:t>
            </a:r>
          </a:p>
          <a:p>
            <a:pPr algn="l"/>
            <a:endParaRPr sz="1100" b="0">
              <a:solidFill>
                <a:srgbClr val="E2E8F0"/>
              </a:solidFill>
              <a:latin typeface="Cascadia Mono"/>
            </a:endParaRPr>
          </a:p>
          <a:p>
            <a:pPr algn="l"/>
            <a:r>
              <a:rPr sz="1100" b="0">
                <a:solidFill>
                  <a:srgbClr val="E2E8F0"/>
                </a:solidFill>
                <a:latin typeface="Cascadia Mono"/>
              </a:rPr>
              <a:t>search-locations:</a:t>
            </a:r>
          </a:p>
          <a:p>
            <a:pPr algn="l"/>
            <a:r>
              <a:rPr sz="1100" b="0">
                <a:solidFill>
                  <a:srgbClr val="E2E8F0"/>
                </a:solidFill>
                <a:latin typeface="Cascadia Mono"/>
              </a:rPr>
              <a:t>  ${CONFIG_REPO_LOCATION:file:./configrepo}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3703320"/>
            <a:ext cx="1600200" cy="56692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.gitignore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3703320"/>
            <a:ext cx="1600200" cy="56692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README.md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3703320"/>
            <a:ext cx="1920240" cy="56692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Feature branch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28032"/>
            <a:ext cx="201168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Aptos"/>
              </a:rPr>
              <a:t>Mimari kazanım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9966960" cy="8686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Secret, DB password ve kişisel path bilgileri GitHub’dan ayrıldı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Build çıktıları ve local dosyalar repodan dışlandı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Proje artık daha taşınabilir ve profesyonel takip edilebilir hale geldi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40AAB7EC-7D45-4FD5-73B4-C571534F9D1A}"/>
              </a:ext>
            </a:extLst>
          </p:cNvPr>
          <p:cNvSpPr/>
          <p:nvPr/>
        </p:nvSpPr>
        <p:spPr>
          <a:xfrm>
            <a:off x="594360" y="352044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10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Asenkron İletişim ve Event-Driven Yaklaşım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HTTP ile beklemeli iletişim yerine event yayınlama mantığını öğrendim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65760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SENKRON → ASENKRON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2423160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Senkron HTTP</a:t>
            </a:r>
          </a:p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Servis cevap bekler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" y="2423160"/>
            <a:ext cx="9144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26280" y="1874519"/>
            <a:ext cx="2148840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Kafka / Broker</a:t>
            </a:r>
          </a:p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Event taşır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0" y="2423160"/>
            <a:ext cx="9144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55279" y="1444752"/>
            <a:ext cx="2423160" cy="6583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Payment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267712"/>
            <a:ext cx="2423160" cy="6583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Stock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090672"/>
            <a:ext cx="2423160" cy="6583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Notification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77639"/>
            <a:ext cx="201168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Aptos"/>
              </a:rPr>
              <a:t>Örnek event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343400"/>
            <a:ext cx="4800600" cy="105156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l"/>
            <a:r>
              <a:rPr sz="1100" b="0">
                <a:solidFill>
                  <a:srgbClr val="E2E8F0"/>
                </a:solidFill>
                <a:latin typeface="Cascadia Mono"/>
              </a:rPr>
              <a:t>Order Service</a:t>
            </a:r>
          </a:p>
          <a:p>
            <a:pPr algn="l"/>
            <a:r>
              <a:rPr sz="1100" b="0">
                <a:solidFill>
                  <a:srgbClr val="E2E8F0"/>
                </a:solidFill>
                <a:latin typeface="Cascadia Mono"/>
              </a:rPr>
              <a:t>  → OrderCreated event yayınlar</a:t>
            </a:r>
          </a:p>
          <a:p>
            <a:pPr algn="l"/>
            <a:endParaRPr sz="1100" b="0">
              <a:solidFill>
                <a:srgbClr val="E2E8F0"/>
              </a:solidFill>
              <a:latin typeface="Cascadia Mono"/>
            </a:endParaRPr>
          </a:p>
          <a:p>
            <a:pPr algn="l"/>
            <a:r>
              <a:rPr sz="1100" b="0">
                <a:solidFill>
                  <a:srgbClr val="E2E8F0"/>
                </a:solidFill>
                <a:latin typeface="Cascadia Mono"/>
              </a:rPr>
              <a:t>Diğer servisler bu eventi kendi sorumluluğuna göre tüketir.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977639"/>
            <a:ext cx="292608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Aptos"/>
              </a:rPr>
              <a:t>Command / Event ayrımı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370832"/>
            <a:ext cx="4937760" cy="9601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Command: “şunu yap”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Event: “şu oldu”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Event yaklaşımı servis bağımlılığını azaltır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687568"/>
            <a:ext cx="8961120" cy="301752"/>
          </a:xfrm>
          <a:prstGeom prst="roundRect">
            <a:avLst/>
          </a:prstGeom>
          <a:solidFill>
            <a:srgbClr val="34D399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200" b="1">
                <a:solidFill>
                  <a:srgbClr val="0B1020"/>
                </a:solidFill>
                <a:latin typeface="Aptos"/>
              </a:rPr>
              <a:t>Kafka bir teknoloji; Event-Driven Architecture ise genel mimari yaklaşımdır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61DFA583-F731-ED8F-F0C3-219C7FCF051C}"/>
              </a:ext>
            </a:extLst>
          </p:cNvPr>
          <p:cNvSpPr/>
          <p:nvPr/>
        </p:nvSpPr>
        <p:spPr>
          <a:xfrm>
            <a:off x="548640" y="351213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11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Saga Pattern ve Resilience4j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Dağıtık sistemlerde transaction ve hata yönetimini daha gerçekçi düşündüm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65760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DAYANIKLI SİSTEM TASARIMI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83080"/>
            <a:ext cx="2240280" cy="960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Distributed</a:t>
            </a:r>
          </a:p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Transaction</a:t>
            </a:r>
          </a:p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zor ve sıkı bağlı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2267712"/>
            <a:ext cx="86868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645920"/>
            <a:ext cx="205740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Saga Pattern</a:t>
            </a:r>
          </a:p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Local transactions</a:t>
            </a:r>
          </a:p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+ telafi adımları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29400" y="2267712"/>
            <a:ext cx="868679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80960" y="1508760"/>
            <a:ext cx="2606040" cy="5943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Order oluşturuldu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240280"/>
            <a:ext cx="2606040" cy="5943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Ödeme alındı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971800"/>
            <a:ext cx="2606040" cy="5943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Stok düşüldü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77639"/>
            <a:ext cx="256032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Aptos"/>
              </a:rPr>
              <a:t>Saga neden önemli?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5074920" cy="105156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Her servis kendi veritabanında local transaction yapar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Bir adım başarısızsa compensating transaction çalışır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Sipariş–ödeme–stok akışı için uygun bir modeldir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77639"/>
            <a:ext cx="365760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Aptos"/>
              </a:rPr>
              <a:t>Resilience4j ile dayanıklılık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43400"/>
            <a:ext cx="4754880" cy="105156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Circuit breaker: sorunlu servise yüklenmeyi keser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Retry / timeout: kontrollü tekrar ve bekleme sınırı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Fallback: hata anında alternatif cevap üretir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687568"/>
            <a:ext cx="9418320" cy="301752"/>
          </a:xfrm>
          <a:prstGeom prst="roundRect">
            <a:avLst/>
          </a:prstGeom>
          <a:solidFill>
            <a:srgbClr val="22D3EE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200" b="1">
                <a:solidFill>
                  <a:srgbClr val="0B1020"/>
                </a:solidFill>
                <a:latin typeface="Aptos"/>
              </a:rPr>
              <a:t>Kafka event akışı sağlar; HTTP/dış API çağrılarında Resilience4j sistemi korur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BDD26538-4C2C-C787-B5BE-74A1D740A306}"/>
              </a:ext>
            </a:extLst>
          </p:cNvPr>
          <p:cNvSpPr/>
          <p:nvPr/>
        </p:nvSpPr>
        <p:spPr>
          <a:xfrm>
            <a:off x="533400" y="356616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11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MapStruct ile Mapping Katmanının Ayrılması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Customer Service içindeki manuel DTO dönüşümlerini ayrı mapper katmanına taşıdım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65760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SERVICE SADELEŞTİRME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3108960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Önce</a:t>
            </a:r>
          </a:p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CustomerService içinde</a:t>
            </a:r>
          </a:p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new CustomerResponse(...)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2423160"/>
            <a:ext cx="73152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600200"/>
            <a:ext cx="2240280" cy="1645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CustomerMapper</a:t>
            </a:r>
          </a:p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interface</a:t>
            </a:r>
          </a:p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MapStruct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43800" y="2423160"/>
            <a:ext cx="73152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58200" y="1874519"/>
            <a:ext cx="2468880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Sonra</a:t>
            </a:r>
          </a:p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Entity ↔ DTO</a:t>
            </a:r>
          </a:p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dönüşümleri mapper’da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265176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Aptos"/>
              </a:rPr>
              <a:t>Sorumluluk ayrımı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70832"/>
            <a:ext cx="2743200" cy="6583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CustomerService</a:t>
            </a:r>
          </a:p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İş mantığı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4370832"/>
            <a:ext cx="2743200" cy="6583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CustomerMapper</a:t>
            </a:r>
          </a:p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DTO / Entity dönüşümü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977639"/>
            <a:ext cx="301752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Aptos"/>
              </a:rPr>
              <a:t>Neden tercih edildi?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370832"/>
            <a:ext cx="4114800" cy="105156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Service katmanı sadeleşti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Kod tekrarı azaldı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Mapping merkezi ve sürdürülebilir hale geldi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687568"/>
            <a:ext cx="8732520" cy="301752"/>
          </a:xfrm>
          <a:prstGeom prst="roundRect">
            <a:avLst/>
          </a:prstGeom>
          <a:solidFill>
            <a:srgbClr val="34D399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200" b="1">
                <a:solidFill>
                  <a:srgbClr val="0B1020"/>
                </a:solidFill>
                <a:latin typeface="Aptos"/>
              </a:rPr>
              <a:t>Mapping artık iş mantığının içinde değil, ayrı bir katmanda yönetiliyor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EAF09BA4-D9FC-216C-7FFF-57E0682E32D5}"/>
              </a:ext>
            </a:extLst>
          </p:cNvPr>
          <p:cNvSpPr/>
          <p:nvPr/>
        </p:nvSpPr>
        <p:spPr>
          <a:xfrm>
            <a:off x="533400" y="347471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12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228600"/>
            <a:ext cx="969264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Permission Yapısı ile Yetkilendirmeyi Merkezileştirme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Controller içindeki hardcoded role ifadelerini daha yönetilebilir hale getirdim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65760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AUTHORIZATION TEMİZLİĞİ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83080"/>
            <a:ext cx="3291840" cy="1325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Önce</a:t>
            </a:r>
          </a:p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@PreAuthorize("hasRole('ADMIN')")</a:t>
            </a:r>
          </a:p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@PreAuthorize("hasAnyRole('USER','ADMIN')")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2423160"/>
            <a:ext cx="77724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03520" y="1783080"/>
            <a:ext cx="2423160" cy="1325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PermissionConstants</a:t>
            </a:r>
          </a:p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Role ve ifadeler</a:t>
            </a:r>
          </a:p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tek merkezde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09560" y="2423160"/>
            <a:ext cx="77724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69680" y="1783080"/>
            <a:ext cx="2331720" cy="1325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PermissionService</a:t>
            </a:r>
          </a:p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İleride sahiplik /</a:t>
            </a:r>
          </a:p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kullanıcı bazlı kontrol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58768"/>
            <a:ext cx="256032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Aptos"/>
              </a:rPr>
              <a:t>Bugünkü kullanım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4800600" cy="105156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Role isimleri tek noktadan yönetilebilir hale geldi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Controller katmanındaki string tekrarları azaldı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• Yetkilendirme ifadeleri daha okunabilir oldu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858768"/>
            <a:ext cx="2926080" cy="2743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Aptos"/>
              </a:rPr>
              <a:t>Hazırlanan altyapı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251960"/>
            <a:ext cx="4983480" cy="64008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l"/>
            <a:r>
              <a:rPr sz="1000" b="0">
                <a:solidFill>
                  <a:srgbClr val="E2E8F0"/>
                </a:solidFill>
                <a:latin typeface="Cascadia Mono"/>
              </a:rPr>
              <a:t>@PreAuthorize("@permissionService.canAccessCustomer(authentication, #id)")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5074920"/>
            <a:ext cx="4892040" cy="7772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Aptos"/>
              </a:rPr>
              <a:t>• Şu an aktif iş kuralı olarak kullanılmıyor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Aptos"/>
              </a:rPr>
              <a:t>• Daha karmaşık authorization senaryoları için temel hazırlandı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989320"/>
            <a:ext cx="9692640" cy="301752"/>
          </a:xfrm>
          <a:prstGeom prst="roundRect">
            <a:avLst/>
          </a:prstGeom>
          <a:solidFill>
            <a:srgbClr val="22D3EE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200" b="1">
                <a:solidFill>
                  <a:srgbClr val="0B1020"/>
                </a:solidFill>
                <a:latin typeface="Aptos"/>
              </a:rPr>
              <a:t>Hardcoded role kullanımından merkezi ve genişletilebilir authorization yapısına geçildi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FC9FEE61-0B30-615D-8676-276F760F0110}"/>
              </a:ext>
            </a:extLst>
          </p:cNvPr>
          <p:cNvSpPr/>
          <p:nvPr/>
        </p:nvSpPr>
        <p:spPr>
          <a:xfrm>
            <a:off x="403167" y="32211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tx1"/>
                </a:solidFill>
              </a:rPr>
              <a:t>GÜN 12</a:t>
            </a:r>
            <a:endParaRPr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384048"/>
            <a:ext cx="10972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46888"/>
            <a:ext cx="91440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Aptos"/>
              </a:rPr>
              <a:t>Order ve Product Service Standardizasyonu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932688"/>
            <a:ext cx="10881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Customer Service’te kullandığım mimari düzeni diğer servislere yaydım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374903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Aptos"/>
              </a:rPr>
              <a:t>MAPPING STANDARDI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2423160" cy="960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2295144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Aptos"/>
              </a:rPr>
              <a:t>Önce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8FAFC"/>
                </a:solidFill>
                <a:latin typeface="Aptos"/>
              </a:rPr>
              <a:t>Service içinde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8FAFC"/>
                </a:solidFill>
                <a:latin typeface="Aptos"/>
              </a:rPr>
              <a:t>manuel DTO dönüşümü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" y="2313432"/>
            <a:ext cx="73152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1627632"/>
            <a:ext cx="2606040" cy="1325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1773936"/>
            <a:ext cx="2478024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Aptos"/>
              </a:rPr>
              <a:t>MapStruct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OrderMapper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ProductMapper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78040" y="2313432"/>
            <a:ext cx="73152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60" y="1828800"/>
            <a:ext cx="2697480" cy="960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75104"/>
            <a:ext cx="2569464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Aptos"/>
              </a:rPr>
              <a:t>Sonra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8FAFC"/>
                </a:solidFill>
                <a:latin typeface="Aptos"/>
              </a:rPr>
              <a:t>Entity ↔ DTO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8FAFC"/>
                </a:solidFill>
                <a:latin typeface="Aptos"/>
              </a:rPr>
              <a:t>dönüşümleri mapper’da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75887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41648"/>
            <a:ext cx="4892040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Order Service’te manuel DTO dönüşümleri kaldırıldı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Product Service’te manuel DTO dönüşümleri kaldırıldı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Her iki servise MapStruct eklendi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OrderMapper ve ProductMapper oluşturuldu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675887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Ortak mimari karar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041648"/>
            <a:ext cx="224028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208" y="4187952"/>
            <a:ext cx="2112264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8FAFC"/>
                </a:solidFill>
                <a:latin typeface="Aptos"/>
              </a:rPr>
              <a:t>Service Katmanı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8FAFC"/>
                </a:solidFill>
                <a:latin typeface="Aptos"/>
              </a:rPr>
              <a:t>Sadece business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4041648"/>
            <a:ext cx="224028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96528" y="4187952"/>
            <a:ext cx="2112264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8FAFC"/>
                </a:solidFill>
                <a:latin typeface="Aptos"/>
              </a:rPr>
              <a:t>Mapper Katmanı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8FAFC"/>
                </a:solidFill>
                <a:latin typeface="Aptos"/>
              </a:rPr>
              <a:t>DTO / Entity dönüşümü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901184"/>
            <a:ext cx="4480560" cy="7863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Service katmanı sadeleşti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Kod tekrarı azaldı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Tüm servislerde aynı standart oluştu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650992"/>
            <a:ext cx="9601200" cy="329184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5742432"/>
            <a:ext cx="9235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0B1020"/>
                </a:solidFill>
                <a:latin typeface="Aptos"/>
              </a:rPr>
              <a:t>Mapping işlemleri artık iş mantığının içinde değil, ayrı ve tekrar kullanılabilir bir katmanda yönetiliyor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21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5A87205-45D9-A0CC-5FE7-18CCEC424A0D}"/>
              </a:ext>
            </a:extLst>
          </p:cNvPr>
          <p:cNvSpPr txBox="1"/>
          <p:nvPr/>
        </p:nvSpPr>
        <p:spPr>
          <a:xfrm>
            <a:off x="822960" y="393191"/>
            <a:ext cx="57740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0B1020"/>
                </a:solidFill>
                <a:latin typeface="Aptos"/>
              </a:rPr>
              <a:t>GÜN 1</a:t>
            </a:r>
            <a:r>
              <a:rPr lang="tr-TR" sz="900" b="1" dirty="0">
                <a:solidFill>
                  <a:srgbClr val="0B1020"/>
                </a:solidFill>
                <a:latin typeface="Aptos"/>
              </a:rPr>
              <a:t>3</a:t>
            </a:r>
            <a:endParaRPr sz="900" b="1" dirty="0">
              <a:solidFill>
                <a:srgbClr val="0B1020"/>
              </a:solidFill>
              <a:latin typeface="Aptos"/>
            </a:endParaRP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4C8DCD52-0B7F-7776-1947-DB13C9B6F751}"/>
              </a:ext>
            </a:extLst>
          </p:cNvPr>
          <p:cNvSpPr/>
          <p:nvPr/>
        </p:nvSpPr>
        <p:spPr>
          <a:xfrm>
            <a:off x="494441" y="31546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rgbClr val="0B1020"/>
                </a:solidFill>
              </a:rPr>
              <a:t>GÜN 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"/>
            <a:ext cx="12192000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03583"/>
            <a:ext cx="10972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46888"/>
            <a:ext cx="91440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Aptos"/>
              </a:rPr>
              <a:t>Resource Server ve Yetkilendirme Yapısının Tamamlanması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932688"/>
            <a:ext cx="10881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Order ve Product servislerini de aynı güvenlik standardına taşıdım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374903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22D3EE"/>
                </a:solidFill>
                <a:latin typeface="Aptos"/>
              </a:rPr>
              <a:t>GÜVENLİK STANDARDI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205740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29384"/>
            <a:ext cx="1929384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Aptos"/>
              </a:rPr>
              <a:t>Customer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8FAFC"/>
                </a:solidFill>
                <a:latin typeface="Aptos"/>
              </a:rPr>
              <a:t>Resource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783080"/>
            <a:ext cx="205740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4408" y="1929384"/>
            <a:ext cx="1929384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Aptos"/>
              </a:rPr>
              <a:t>Product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8FAFC"/>
                </a:solidFill>
                <a:latin typeface="Aptos"/>
              </a:rPr>
              <a:t>Resource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783080"/>
            <a:ext cx="205740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87568" y="1929384"/>
            <a:ext cx="1929384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Aptos"/>
              </a:rPr>
              <a:t>Order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8FAFC"/>
                </a:solidFill>
                <a:latin typeface="Aptos"/>
              </a:rPr>
              <a:t>Resource Server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2221992"/>
            <a:ext cx="64008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78240" y="1600200"/>
            <a:ext cx="205740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42248" y="1746504"/>
            <a:ext cx="1929384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8FAFC"/>
                </a:solidFill>
                <a:latin typeface="Aptos"/>
              </a:rPr>
              <a:t>Ortak Güvenlik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8FAFC"/>
                </a:solidFill>
                <a:latin typeface="Aptos"/>
              </a:rPr>
              <a:t>JWT Validation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8FAFC"/>
                </a:solidFill>
                <a:latin typeface="Aptos"/>
              </a:rPr>
              <a:t>@PreAuthorize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73552"/>
            <a:ext cx="2560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21024"/>
            <a:ext cx="4709160" cy="1389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Product ve Order Service OAuth2 Resource Server yapısına geçirildi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SecurityConfig sınıfları eklendi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Endpoint bazlı role-based authorization tanımlandı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@PreAuthorize kullanımı standart hale getirildi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73552"/>
            <a:ext cx="3291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Yetkilendirme temizliği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639312"/>
            <a:ext cx="205740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0488" y="3785615"/>
            <a:ext cx="1929384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8FAFC"/>
                </a:solidFill>
                <a:latin typeface="Aptos"/>
              </a:rPr>
              <a:t>PermissionConstants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8FAFC"/>
                </a:solidFill>
                <a:latin typeface="Aptos"/>
              </a:rPr>
              <a:t>role ifadeleri tek merkezde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639312"/>
            <a:ext cx="205740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22208" y="3785615"/>
            <a:ext cx="1929384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8FAFC"/>
                </a:solidFill>
                <a:latin typeface="Aptos"/>
              </a:rPr>
              <a:t>PermissionService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8FAFC"/>
                </a:solidFill>
                <a:latin typeface="Aptos"/>
              </a:rPr>
              <a:t>sahiplik bazlı kontrole hazır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663440"/>
            <a:ext cx="45262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Hardcoded authorization stringleri azaltıldı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Role isimleri tek noktadan yönetiliyor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8FAFC"/>
                </a:solidFill>
                <a:latin typeface="Aptos"/>
              </a:rPr>
              <a:t>• SpEL tabanlı gelişmiş kontroller için altyapı hazırlandı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650992"/>
            <a:ext cx="9601200" cy="329184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742432"/>
            <a:ext cx="9235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0B1020"/>
                </a:solidFill>
                <a:latin typeface="Aptos"/>
              </a:rPr>
              <a:t>Üç servis aynı Resource Server + @PreAuthorize güvenlik standardını kullanmaya başladı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611112"/>
            <a:ext cx="5486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65392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22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5DF42CDF-9635-7D3E-33BC-674C5B2C6F1B}"/>
              </a:ext>
            </a:extLst>
          </p:cNvPr>
          <p:cNvSpPr/>
          <p:nvPr/>
        </p:nvSpPr>
        <p:spPr>
          <a:xfrm>
            <a:off x="464820" y="30694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rgbClr val="0B1020"/>
                </a:solidFill>
              </a:rPr>
              <a:t>GÜN 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Aptos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0B1020"/>
                </a:solidFill>
                <a:latin typeface="Aptos"/>
              </a:rPr>
              <a:t>GÜN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Order Service Mimarisinin Güçlendirilmesi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Sipariş oluşturma akışını daha güvenli ve katmanlı hale getirdim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ORDER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@Transactional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Tek işlem bütünlüğü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OrderService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Business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ProductClient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Servis iletişimi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OrderStatus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Enum yönetimi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940">
                <a:solidFill>
                  <a:srgbClr val="F8FAFC"/>
                </a:solidFill>
                <a:latin typeface="Aptos"/>
              </a:rPr>
              <a:t>• Sipariş oluşturma işlemi @Transactional ile tek transaction içine alındı</a:t>
            </a:r>
          </a:p>
          <a:p>
            <a:r>
              <a:rPr sz="940">
                <a:solidFill>
                  <a:srgbClr val="F8FAFC"/>
                </a:solidFill>
                <a:latin typeface="Aptos"/>
              </a:rPr>
              <a:t>• Sipariş durumu String yerine OrderStatus Enum yapısına taşındı</a:t>
            </a:r>
          </a:p>
          <a:p>
            <a:r>
              <a:rPr sz="940">
                <a:solidFill>
                  <a:srgbClr val="F8FAFC"/>
                </a:solidFill>
                <a:latin typeface="Aptos"/>
              </a:rPr>
              <a:t>• Product Service çağrıları ProductClient bileşenine ayrıldı</a:t>
            </a:r>
          </a:p>
          <a:p>
            <a:r>
              <a:rPr sz="940">
                <a:solidFill>
                  <a:srgbClr val="F8FAFC"/>
                </a:solidFill>
                <a:latin typeface="Aptos"/>
              </a:rPr>
              <a:t>• OrderService yalnızca iş mantığına odaklanacak hale getirildi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Tutarlı sipariş oluşturma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Tip güvenli durum yönetimi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940">
                <a:solidFill>
                  <a:srgbClr val="F8FAFC"/>
                </a:solidFill>
                <a:latin typeface="Aptos"/>
              </a:rPr>
              <a:t>• Hata anında verinin yarım kalma riski azaltıldı</a:t>
            </a:r>
          </a:p>
          <a:p>
            <a:r>
              <a:rPr sz="940">
                <a:solidFill>
                  <a:srgbClr val="F8FAFC"/>
                </a:solidFill>
                <a:latin typeface="Aptos"/>
              </a:rPr>
              <a:t>• String değerlerin yanlış yazılmasının önüne geçildi</a:t>
            </a:r>
          </a:p>
          <a:p>
            <a:r>
              <a:rPr sz="940">
                <a:solidFill>
                  <a:srgbClr val="F8FAFC"/>
                </a:solidFill>
                <a:latin typeface="Aptos"/>
              </a:rPr>
              <a:t>• Service katmanı servisler arası iletişimden arındırıldı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40" b="1">
                <a:solidFill>
                  <a:srgbClr val="0B1020"/>
                </a:solidFill>
                <a:latin typeface="Aptos"/>
              </a:rPr>
              <a:t>OrderService business logic’e, ProductClient servis iletişimine, OrderStatus durum yönetimine odaklandı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Aptos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0B1020"/>
                </a:solidFill>
                <a:latin typeface="Aptos"/>
              </a:rPr>
              <a:t>GÜN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JWT ve Rol Yönetiminin Standartlaştırılması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USER, ADMIN ve SELLER rollerini tüm servislerde ortak çalışacak hale getirdim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ROLE → JWT → AUTHORIZATION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1417320" cy="58521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56816"/>
            <a:ext cx="123444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1828800"/>
            <a:ext cx="1417320" cy="58521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1956816"/>
            <a:ext cx="123444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SELLER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828800"/>
            <a:ext cx="1417320" cy="58521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1956816"/>
            <a:ext cx="123444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ADMIN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720" y="2121408"/>
            <a:ext cx="475488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1691640"/>
            <a:ext cx="20116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1865376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JWT role claim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role = SELLER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49640" y="2121408"/>
            <a:ext cx="475488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89720" y="1691640"/>
            <a:ext cx="182880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72016" y="1865376"/>
            <a:ext cx="1664208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Resource Server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@PreAuthorize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474720"/>
            <a:ext cx="475488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940" dirty="0">
                <a:solidFill>
                  <a:srgbClr val="F8FAFC"/>
                </a:solidFill>
                <a:latin typeface="Aptos"/>
              </a:rPr>
              <a:t>• Register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işlemi</a:t>
            </a:r>
            <a:r>
              <a:rPr sz="940" dirty="0">
                <a:solidFill>
                  <a:srgbClr val="F8FAFC"/>
                </a:solidFill>
                <a:latin typeface="Aptos"/>
              </a:rPr>
              <a:t> USER, ADMIN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ve</a:t>
            </a:r>
            <a:r>
              <a:rPr sz="940" dirty="0">
                <a:solidFill>
                  <a:srgbClr val="F8FAFC"/>
                </a:solidFill>
                <a:latin typeface="Aptos"/>
              </a:rPr>
              <a:t> SELLER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rollerini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destekleyecek</a:t>
            </a:r>
            <a:r>
              <a:rPr sz="940" dirty="0">
                <a:solidFill>
                  <a:srgbClr val="F8FAFC"/>
                </a:solidFill>
                <a:latin typeface="Aptos"/>
              </a:rPr>
              <a:t> hale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getirildi</a:t>
            </a:r>
            <a:endParaRPr sz="940" dirty="0">
              <a:solidFill>
                <a:srgbClr val="F8FAFC"/>
              </a:solidFill>
              <a:latin typeface="Aptos"/>
            </a:endParaRPr>
          </a:p>
          <a:p>
            <a:r>
              <a:rPr sz="940" dirty="0">
                <a:solidFill>
                  <a:srgbClr val="F8FAFC"/>
                </a:solidFill>
                <a:latin typeface="Aptos"/>
              </a:rPr>
              <a:t>•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Rollerin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veritabanı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ve</a:t>
            </a:r>
            <a:r>
              <a:rPr sz="940" dirty="0">
                <a:solidFill>
                  <a:srgbClr val="F8FAFC"/>
                </a:solidFill>
                <a:latin typeface="Aptos"/>
              </a:rPr>
              <a:t> JWT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üzerindeki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kullanım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amacı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netleştirildi</a:t>
            </a:r>
            <a:endParaRPr sz="94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15000" y="3127248"/>
            <a:ext cx="506369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2D3EE"/>
                </a:solidFill>
                <a:latin typeface="Aptos"/>
              </a:rPr>
              <a:t>Neden</a:t>
            </a:r>
            <a:r>
              <a:rPr lang="tr-TR" sz="1300" b="1" dirty="0">
                <a:solidFill>
                  <a:srgbClr val="22D3EE"/>
                </a:solidFill>
                <a:latin typeface="Aptos"/>
              </a:rPr>
              <a:t> rol bilgisini hem </a:t>
            </a:r>
            <a:r>
              <a:rPr lang="tr-TR" sz="1300" b="1" dirty="0" err="1">
                <a:solidFill>
                  <a:srgbClr val="22D3EE"/>
                </a:solidFill>
                <a:latin typeface="Aptos"/>
              </a:rPr>
              <a:t>db</a:t>
            </a:r>
            <a:r>
              <a:rPr lang="tr-TR" sz="1300" b="1" dirty="0">
                <a:solidFill>
                  <a:srgbClr val="22D3EE"/>
                </a:solidFill>
                <a:latin typeface="Aptos"/>
              </a:rPr>
              <a:t> de hem de </a:t>
            </a:r>
            <a:r>
              <a:rPr lang="tr-TR" sz="1300" b="1" dirty="0" err="1">
                <a:solidFill>
                  <a:srgbClr val="22D3EE"/>
                </a:solidFill>
                <a:latin typeface="Aptos"/>
              </a:rPr>
              <a:t>jwt</a:t>
            </a:r>
            <a:r>
              <a:rPr lang="tr-TR" sz="1300" b="1" dirty="0">
                <a:solidFill>
                  <a:srgbClr val="22D3EE"/>
                </a:solidFill>
                <a:latin typeface="Aptos"/>
              </a:rPr>
              <a:t> de tutmak </a:t>
            </a:r>
            <a:r>
              <a:rPr sz="1300" b="1" dirty="0" err="1">
                <a:solidFill>
                  <a:srgbClr val="22D3EE"/>
                </a:solidFill>
                <a:latin typeface="Aptos"/>
              </a:rPr>
              <a:t>tercih</a:t>
            </a:r>
            <a:r>
              <a:rPr sz="1300" b="1" dirty="0">
                <a:solidFill>
                  <a:srgbClr val="22D3EE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22D3EE"/>
                </a:solidFill>
                <a:latin typeface="Aptos"/>
              </a:rPr>
              <a:t>edildi</a:t>
            </a:r>
            <a:r>
              <a:rPr sz="1300" b="1" dirty="0">
                <a:solidFill>
                  <a:srgbClr val="22D3EE"/>
                </a:solidFill>
                <a:latin typeface="Aptos"/>
              </a:rPr>
              <a:t>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24728" y="3639312"/>
            <a:ext cx="1828800" cy="402336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DB: kalıcı rol kaydı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02168" y="3639312"/>
            <a:ext cx="1828800" cy="402336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JWT: hızlı yetki kontrolü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919">
                <a:solidFill>
                  <a:srgbClr val="F8FAFC"/>
                </a:solidFill>
                <a:latin typeface="Aptos"/>
              </a:rPr>
              <a:t>• Her istekte veritabanına rol sorgusu yapılması azaltıldı</a:t>
            </a:r>
          </a:p>
          <a:p>
            <a:r>
              <a:rPr sz="919">
                <a:solidFill>
                  <a:srgbClr val="F8FAFC"/>
                </a:solidFill>
                <a:latin typeface="Aptos"/>
              </a:rPr>
              <a:t>• Resource Server’lar JWT doğrulayarak yetki kontrolü yapabilir hale geldi</a:t>
            </a:r>
          </a:p>
          <a:p>
            <a:r>
              <a:rPr sz="919">
                <a:solidFill>
                  <a:srgbClr val="F8FAFC"/>
                </a:solidFill>
                <a:latin typeface="Aptos"/>
              </a:rPr>
              <a:t>• Tüm servislerde ortak authorization standardı oluştu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40" b="1">
                <a:solidFill>
                  <a:srgbClr val="0B1020"/>
                </a:solidFill>
                <a:latin typeface="Aptos"/>
              </a:rPr>
              <a:t>USER, ADMIN ve SELLER rolleri JWT tabanlı yetkilendirme ile tüm servislerde standart hale geldi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Aptos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Servisler Arası İletişimin İyileştirilmesi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Port bağımlılığını kaldırıp Eureka tabanlı servis keşfiyle iletişimi güçlendirdim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LOCALHOST → SERVICE DISCOVERY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Önce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localhost:8081 / 8083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040" b="1">
                <a:solidFill>
                  <a:srgbClr val="F8FAFC"/>
                </a:solidFill>
                <a:latin typeface="Aptos"/>
              </a:rPr>
              <a:t>Eureka</a:t>
            </a:r>
          </a:p>
          <a:p>
            <a:pPr algn="ctr"/>
            <a:r>
              <a:rPr sz="1040" b="0">
                <a:solidFill>
                  <a:srgbClr val="F8FAFC"/>
                </a:solidFill>
                <a:latin typeface="Aptos"/>
              </a:rPr>
              <a:t>Service Discovery</a:t>
            </a:r>
          </a:p>
          <a:p>
            <a:pPr algn="ctr"/>
            <a:r>
              <a:rPr sz="1040" b="0">
                <a:solidFill>
                  <a:srgbClr val="F8FAFC"/>
                </a:solidFill>
                <a:latin typeface="Aptos"/>
              </a:rPr>
              <a:t>+ Load Balanced RestClient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Sonra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customer-service / product-service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950">
                <a:solidFill>
                  <a:srgbClr val="F8FAFC"/>
                </a:solidFill>
                <a:latin typeface="Aptos"/>
              </a:rPr>
              <a:t>• Auth Service → Customer Service iletişimi Eureka üzerinden çalışacak hale getirildi</a:t>
            </a:r>
          </a:p>
          <a:p>
            <a:r>
              <a:rPr sz="950">
                <a:solidFill>
                  <a:srgbClr val="F8FAFC"/>
                </a:solidFill>
                <a:latin typeface="Aptos"/>
              </a:rPr>
              <a:t>• Order Service → Product Service iletişimi Eureka üzerinden güncellendi</a:t>
            </a:r>
          </a:p>
          <a:p>
            <a:r>
              <a:rPr sz="950">
                <a:solidFill>
                  <a:srgbClr val="F8FAFC"/>
                </a:solidFill>
                <a:latin typeface="Aptos"/>
              </a:rPr>
              <a:t>• Load Balanced RestClient yapısı eklendi</a:t>
            </a:r>
          </a:p>
          <a:p>
            <a:r>
              <a:rPr sz="950">
                <a:solidFill>
                  <a:srgbClr val="F8FAFC"/>
                </a:solidFill>
                <a:latin typeface="Aptos"/>
              </a:rPr>
              <a:t>• Doğrudan port bağımlılıkları kaldırıldı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Servis adıyla iletişim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Port değişiminden bağımsız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919">
                <a:solidFill>
                  <a:srgbClr val="F8FAFC"/>
                </a:solidFill>
                <a:latin typeface="Aptos"/>
              </a:rPr>
              <a:t>• Servisler fiziksel adreslerini bilmeden haberleşir</a:t>
            </a:r>
          </a:p>
          <a:p>
            <a:r>
              <a:rPr sz="919">
                <a:solidFill>
                  <a:srgbClr val="F8FAFC"/>
                </a:solidFill>
                <a:latin typeface="Aptos"/>
              </a:rPr>
              <a:t>• Birden fazla instance çalıştırmaya daha uygun yapı oluşur</a:t>
            </a:r>
          </a:p>
          <a:p>
            <a:r>
              <a:rPr sz="919">
                <a:solidFill>
                  <a:srgbClr val="F8FAFC"/>
                </a:solidFill>
                <a:latin typeface="Aptos"/>
              </a:rPr>
              <a:t>• HTTP çağrıları microservice mimarisine daha uyumlu hale gelir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40" b="1">
                <a:solidFill>
                  <a:srgbClr val="0B1020"/>
                </a:solidFill>
                <a:latin typeface="Aptos"/>
              </a:rPr>
              <a:t>Auth ve Order servisleri artık port yerine Eureka’daki servis isimleriyle haberleşiyor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Aptos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Uçtan Uca Test ve Son İyileştirmeler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Kafka mimarisine geçmeden önce mevcut sistemi gerçek senaryolarla doğruladım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E2E TEST VE HAZIRLIK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18288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7" y="1965960"/>
            <a:ext cx="1609344" cy="43891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USER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Ürün erişimi + sipariş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1828800"/>
            <a:ext cx="18288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72968" y="1965960"/>
            <a:ext cx="1609344" cy="43891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1" dirty="0">
                <a:solidFill>
                  <a:srgbClr val="F8FAFC"/>
                </a:solidFill>
                <a:latin typeface="Aptos"/>
              </a:rPr>
              <a:t>SELLER</a:t>
            </a:r>
          </a:p>
          <a:p>
            <a:pPr algn="ctr"/>
            <a:r>
              <a:rPr sz="1100" b="0" dirty="0" err="1">
                <a:solidFill>
                  <a:srgbClr val="F8FAFC"/>
                </a:solidFill>
                <a:latin typeface="Aptos"/>
              </a:rPr>
              <a:t>Ürün</a:t>
            </a:r>
            <a:r>
              <a:rPr sz="1100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F8FAFC"/>
                </a:solidFill>
                <a:latin typeface="Aptos"/>
              </a:rPr>
              <a:t>yönetimi</a:t>
            </a:r>
            <a:endParaRPr sz="1100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57800" y="1828800"/>
            <a:ext cx="18288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67528" y="1965960"/>
            <a:ext cx="1609344" cy="43891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ADMIN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Yönetim endpointleri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2185416"/>
            <a:ext cx="54864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01000" y="1737360"/>
            <a:ext cx="242316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2" y="1920240"/>
            <a:ext cx="2185416" cy="56692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940" b="1">
                <a:solidFill>
                  <a:srgbClr val="F8FAFC"/>
                </a:solidFill>
                <a:latin typeface="Aptos"/>
              </a:rPr>
              <a:t>Authorization Header</a:t>
            </a:r>
          </a:p>
          <a:p>
            <a:pPr algn="ctr"/>
            <a:r>
              <a:rPr sz="940" b="0">
                <a:solidFill>
                  <a:srgbClr val="F8FAFC"/>
                </a:solidFill>
                <a:latin typeface="Aptos"/>
              </a:rPr>
              <a:t>JWT doğrulama</a:t>
            </a:r>
          </a:p>
          <a:p>
            <a:pPr algn="ctr"/>
            <a:r>
              <a:rPr sz="940" b="0">
                <a:solidFill>
                  <a:srgbClr val="F8FAFC"/>
                </a:solidFill>
                <a:latin typeface="Aptos"/>
              </a:rPr>
              <a:t>Servisler arası güvenlik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584448"/>
            <a:ext cx="470916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940" dirty="0">
                <a:solidFill>
                  <a:srgbClr val="F8FAFC"/>
                </a:solidFill>
                <a:latin typeface="Aptos"/>
              </a:rPr>
              <a:t>• USER, ADMIN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ve</a:t>
            </a:r>
            <a:r>
              <a:rPr sz="940" dirty="0">
                <a:solidFill>
                  <a:srgbClr val="F8FAFC"/>
                </a:solidFill>
                <a:latin typeface="Aptos"/>
              </a:rPr>
              <a:t> SELLER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senaryoları</a:t>
            </a:r>
            <a:r>
              <a:rPr sz="940" dirty="0">
                <a:solidFill>
                  <a:srgbClr val="F8FAFC"/>
                </a:solidFill>
                <a:latin typeface="Aptos"/>
              </a:rPr>
              <a:t> Postman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ile</a:t>
            </a:r>
            <a:r>
              <a:rPr sz="940" dirty="0">
                <a:solidFill>
                  <a:srgbClr val="F8FAFC"/>
                </a:solidFill>
                <a:latin typeface="Aptos"/>
              </a:rPr>
              <a:t> test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edildi</a:t>
            </a:r>
            <a:endParaRPr sz="940" dirty="0">
              <a:solidFill>
                <a:srgbClr val="F8FAFC"/>
              </a:solidFill>
              <a:latin typeface="Aptos"/>
            </a:endParaRPr>
          </a:p>
          <a:p>
            <a:r>
              <a:rPr sz="940" dirty="0">
                <a:solidFill>
                  <a:srgbClr val="F8FAFC"/>
                </a:solidFill>
                <a:latin typeface="Aptos"/>
              </a:rPr>
              <a:t>• Product Service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yetkilendirmeleri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doğrulandı</a:t>
            </a:r>
            <a:endParaRPr sz="940" dirty="0">
              <a:solidFill>
                <a:srgbClr val="F8FAFC"/>
              </a:solidFill>
              <a:latin typeface="Aptos"/>
            </a:endParaRPr>
          </a:p>
          <a:p>
            <a:r>
              <a:rPr sz="940" dirty="0">
                <a:solidFill>
                  <a:srgbClr val="F8FAFC"/>
                </a:solidFill>
                <a:latin typeface="Aptos"/>
              </a:rPr>
              <a:t>• Order → Product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çağrılarında</a:t>
            </a:r>
            <a:r>
              <a:rPr sz="940" dirty="0">
                <a:solidFill>
                  <a:srgbClr val="F8FAFC"/>
                </a:solidFill>
                <a:latin typeface="Aptos"/>
              </a:rPr>
              <a:t> Authorization header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aktarımı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sağlandı</a:t>
            </a:r>
            <a:endParaRPr sz="940" dirty="0">
              <a:solidFill>
                <a:srgbClr val="F8FAFC"/>
              </a:solidFill>
              <a:latin typeface="Aptos"/>
            </a:endParaRPr>
          </a:p>
          <a:p>
            <a:r>
              <a:rPr sz="940" dirty="0">
                <a:solidFill>
                  <a:srgbClr val="F8FAFC"/>
                </a:solidFill>
                <a:latin typeface="Aptos"/>
              </a:rPr>
              <a:t>•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Sipariş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oluşturma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ve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ürün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erişim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akışları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baştan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sona</a:t>
            </a:r>
            <a:r>
              <a:rPr sz="940" dirty="0">
                <a:solidFill>
                  <a:srgbClr val="F8FAFC"/>
                </a:solidFill>
                <a:latin typeface="Aptos"/>
              </a:rPr>
              <a:t> </a:t>
            </a:r>
            <a:r>
              <a:rPr sz="940" dirty="0" err="1">
                <a:solidFill>
                  <a:srgbClr val="F8FAFC"/>
                </a:solidFill>
                <a:latin typeface="Aptos"/>
              </a:rPr>
              <a:t>doğrulandı</a:t>
            </a:r>
            <a:endParaRPr sz="94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40" b="1">
                <a:solidFill>
                  <a:srgbClr val="0B1020"/>
                </a:solidFill>
                <a:latin typeface="Aptos"/>
              </a:rPr>
              <a:t>Roller, header aktarımı ve temel iş akışları Kafka öncesi uçtan uca doğrulandı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Kafka ile Event-Driven Mimariye İlk Adım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Order Service'i senkron servis çağrılarından çıkarıp event yayınlayan yapıya dönüştürmeye başladım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SENKRON → EVENT-DRIVEN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600" b="0" dirty="0">
                <a:solidFill>
                  <a:srgbClr val="F8FAFC"/>
                </a:solidFill>
                <a:latin typeface="Aptos"/>
              </a:rPr>
              <a:t>Order </a:t>
            </a:r>
            <a:r>
              <a:rPr sz="1600" dirty="0">
                <a:solidFill>
                  <a:srgbClr val="F8FAFC"/>
                </a:solidFill>
                <a:latin typeface="Aptos"/>
              </a:rPr>
              <a:t>Service</a:t>
            </a:r>
          </a:p>
          <a:p>
            <a:pPr algn="ctr"/>
            <a:r>
              <a:rPr sz="1600" b="0" dirty="0" err="1">
                <a:solidFill>
                  <a:srgbClr val="F8FAFC"/>
                </a:solidFill>
                <a:latin typeface="Aptos"/>
              </a:rPr>
              <a:t>Sipariş</a:t>
            </a:r>
            <a:r>
              <a:rPr sz="1600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F8FAFC"/>
                </a:solidFill>
                <a:latin typeface="Aptos"/>
              </a:rPr>
              <a:t>kaydı</a:t>
            </a:r>
            <a:endParaRPr sz="1600" b="0" dirty="0">
              <a:solidFill>
                <a:srgbClr val="F8FAFC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Aptos"/>
              </a:rPr>
              <a:t>OrderCreatedEvent</a:t>
            </a:r>
          </a:p>
          <a:p>
            <a:pPr algn="ctr"/>
            <a:r>
              <a:rPr sz="1400" b="0">
                <a:solidFill>
                  <a:srgbClr val="F8FAFC"/>
                </a:solidFill>
                <a:latin typeface="Aptos"/>
              </a:rPr>
              <a:t>+ OrderCreatedItemEvent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600" b="0">
                <a:solidFill>
                  <a:srgbClr val="F8FAFC"/>
                </a:solidFill>
                <a:latin typeface="Aptos"/>
              </a:rPr>
              <a:t>Kafka</a:t>
            </a:r>
          </a:p>
          <a:p>
            <a:pPr algn="ctr"/>
            <a:r>
              <a:rPr sz="1600" b="0">
                <a:solidFill>
                  <a:srgbClr val="F8FAFC"/>
                </a:solidFill>
                <a:latin typeface="Aptos"/>
              </a:rPr>
              <a:t>order-created 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930" b="0">
                <a:solidFill>
                  <a:srgbClr val="F8FAFC"/>
                </a:solidFill>
                <a:latin typeface="Aptos"/>
              </a:rPr>
              <a:t>• Spring Kafka altyapısı Order Service'e entegre edildi</a:t>
            </a:r>
          </a:p>
          <a:p>
            <a:pPr algn="l"/>
            <a:r>
              <a:rPr sz="930" b="0">
                <a:solidFill>
                  <a:srgbClr val="F8FAFC"/>
                </a:solidFill>
                <a:latin typeface="Aptos"/>
              </a:rPr>
              <a:t>• Kafka Broker Docker üzerinde çalıştırıldı</a:t>
            </a:r>
          </a:p>
          <a:p>
            <a:pPr algn="l"/>
            <a:r>
              <a:rPr sz="930" b="0">
                <a:solidFill>
                  <a:srgbClr val="F8FAFC"/>
                </a:solidFill>
                <a:latin typeface="Aptos"/>
              </a:rPr>
              <a:t>• OrderCreatedEvent ve OrderCreatedItemEvent modelleri oluşturuldu</a:t>
            </a:r>
          </a:p>
          <a:p>
            <a:pPr algn="l"/>
            <a:r>
              <a:rPr sz="930" b="0">
                <a:solidFill>
                  <a:srgbClr val="F8FAFC"/>
                </a:solidFill>
                <a:latin typeface="Aptos"/>
              </a:rPr>
              <a:t>• OrderProducer ile sipariş oluştuğunda event yayınlayan yapı geliştirildi</a:t>
            </a:r>
          </a:p>
          <a:p>
            <a:pPr algn="l"/>
            <a:r>
              <a:rPr sz="930" b="0">
                <a:solidFill>
                  <a:srgbClr val="F8FAFC"/>
                </a:solidFill>
                <a:latin typeface="Aptos"/>
              </a:rPr>
              <a:t>• Entity → Event dönüşümü için OrderEventMapper oluşturuldu</a:t>
            </a:r>
          </a:p>
          <a:p>
            <a:pPr algn="l"/>
            <a:r>
              <a:rPr sz="930" b="0">
                <a:solidFill>
                  <a:srgbClr val="F8FAFC"/>
                </a:solidFill>
                <a:latin typeface="Aptos"/>
              </a:rPr>
              <a:t>• Sipariş kaydedildikten sonra order-created eventi gönderilecek şekilde akış güncellendi</a:t>
            </a:r>
          </a:p>
          <a:p>
            <a:pPr algn="l"/>
            <a:r>
              <a:rPr sz="930" b="0">
                <a:solidFill>
                  <a:srgbClr val="F8FAFC"/>
                </a:solidFill>
                <a:latin typeface="Aptos"/>
              </a:rPr>
              <a:t>• Kafka Console Consumer ile yayınlanan eventler doğrulandı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Tercih Ettim?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Bağımlılığı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azaltma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Esneklik +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ölçeklenebilirlik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930" b="0">
                <a:solidFill>
                  <a:srgbClr val="F8FAFC"/>
                </a:solidFill>
                <a:latin typeface="Aptos"/>
              </a:rPr>
              <a:t>• REST tabanlı doğrudan çağrılar servisleri birbirine bağımlı kılıyordu</a:t>
            </a:r>
          </a:p>
          <a:p>
            <a:pPr algn="l"/>
            <a:r>
              <a:rPr sz="930" b="0">
                <a:solidFill>
                  <a:srgbClr val="F8FAFC"/>
                </a:solidFill>
                <a:latin typeface="Aptos"/>
              </a:rPr>
              <a:t>• Bir servisin geçici olarak erişilememesi tüm iş akışını etkileyebiliyordu</a:t>
            </a:r>
          </a:p>
          <a:p>
            <a:pPr algn="l"/>
            <a:r>
              <a:rPr sz="930" b="0">
                <a:solidFill>
                  <a:srgbClr val="F8FAFC"/>
                </a:solidFill>
                <a:latin typeface="Aptos"/>
              </a:rPr>
              <a:t>• Event yayınlama ile Order Service artık diğer servisleri doğrudan tanımak zorunda değil</a:t>
            </a:r>
          </a:p>
          <a:p>
            <a:pPr algn="l"/>
            <a:r>
              <a:rPr sz="930" b="0">
                <a:solidFill>
                  <a:srgbClr val="F8FAFC"/>
                </a:solidFill>
                <a:latin typeface="Aptos"/>
              </a:rPr>
              <a:t>• Bu yapı yeni consumer servisler eklemeyi kolaylaştırıyor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İlk kez order-created eventi yayınlandı; Product Service'in consumer olması için temel hazır hale geldi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Inventory Service ve Stok Yönetiminin Ayrıştırılması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Stok yönetimini bağımsız bir servis haline getirerek mimariyi daha modüler hale getirdim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INVENTORY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Spring Boot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Eureka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Config Server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Inventory Model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quantity + reserved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REST API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create / query / inc / dec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910" b="0">
                <a:solidFill>
                  <a:srgbClr val="F8FAFC"/>
                </a:solidFill>
                <a:latin typeface="Aptos"/>
              </a:rPr>
              <a:t>• Yeni bir Inventory Service oluşturuldu; Eureka Client ve Config Server entegrasyonu yapıldı</a:t>
            </a:r>
          </a:p>
          <a:p>
            <a:pPr algn="l"/>
            <a:r>
              <a:rPr sz="910" b="0">
                <a:solidFill>
                  <a:srgbClr val="F8FAFC"/>
                </a:solidFill>
                <a:latin typeface="Aptos"/>
              </a:rPr>
              <a:t>• MongoDB bağlantısı kuruldu ve Inventory doküman modeli tasarlandı</a:t>
            </a:r>
          </a:p>
          <a:p>
            <a:pPr algn="l"/>
            <a:r>
              <a:rPr sz="910" b="0">
                <a:solidFill>
                  <a:srgbClr val="F8FAFC"/>
                </a:solidFill>
                <a:latin typeface="Aptos"/>
              </a:rPr>
              <a:t>• Temel endpointler eklendi: stok oluşturma, ürün bazında sorgulama, artırma ve azaltma</a:t>
            </a:r>
          </a:p>
          <a:p>
            <a:pPr algn="l"/>
            <a:r>
              <a:rPr sz="910" b="0">
                <a:solidFill>
                  <a:srgbClr val="F8FAFC"/>
                </a:solidFill>
                <a:latin typeface="Aptos"/>
              </a:rPr>
              <a:t>• Mapper, custom exception, global exception handler, Bean Validation ve Lombok ile kod yapısı iyileştirildi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Bağımsız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stok yönetimi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Rezervasyon +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locking hazırlığı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productId, quantity, reservedQuantity, createdAt, updatedAt ve version alanları tasarlandı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Model, rezervasyon ve eş zamanlı sipariş senaryolarına hazırlıklı olacak şekilde kurgulandı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Product Service'deki stok sorumluluğu ayrıştırılarak servis sınırları netleştirildi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B1020"/>
                </a:solidFill>
                <a:latin typeface="Aptos"/>
              </a:rPr>
              <a:t>Inventory Service ile stok yönetimi bağımsızlaştı ve proje event-driven akışa hazır hale geldi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İlk Event-Driven İş Akışı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OrderCreatedEvent tüketilerek siparişten stoğa uzanan ilk asenkron akış uçtan uca çalıştırıldı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ORDER → KAFKA → INVENTORY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 Service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OrderCreatedEvent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Kafka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order-created topic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Inventory Consumer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stok güncelleme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• Inventory Consumer geliştirildi ve OrderCreatedEvent dinlenmeye başlandı</a:t>
            </a:r>
          </a:p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• common-events modülü oluşturularak event sözleşmesi tek yerde toplandı</a:t>
            </a:r>
          </a:p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• Event doğrulama için validator sınıfı eklendi; loglama ve katman ayrımı geliştirildi</a:t>
            </a:r>
          </a:p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• Postman ile sipariş oluşturuldu, event Kafka'ya gönderildi ve Inventory MongoDB otomatik güncellendi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İlk gerçek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event-driven akış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Sorumluluk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ayrımı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Order Service artık stok güncellemek için Inventory Service'i REST ile çağırmak zorunda değil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Servisler aynı event contract'ını kullanıyor; kod tekrarları azalıyor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Reservation, Saga Pattern ve Payment süreçleri için güçlü bir temel oluştu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Sipariş PostgreSQL'e kaydedildi, event Kafka'ya gönderildi ve Inventory Service stok miktarını otomatik güncelledi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Kafka Consumer Güvenliği: Idempotency ve Retry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Inventory Consumer'ı tekrar eden eventler ve geçici hatalara karşı daha güvenli hale getirdim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CONSUMER RESILIENCE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At least once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ProcessedEvent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Document +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DefaultErrorHandler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Retry akışı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FixedBackOff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Config Server ayarı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Kafka'nın at least once delivery yapısı nedeniyle aynı event'in tekrar gelebileceğini öğrendim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Idempotency için ProcessedEvent document, repository ve service katmanları eklendi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Consumer artık önce orderId'nin daha önce işlenip işlenmediğini kontrol ediyor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Lambda yerine klasik for döngüsü kullanıldı; validation ve business logic ayrıştırıldı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DefaultErrorHandler, FixedBackOff ve config üzerinden yönetilen retry yapısı eklendi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Idempotent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tüketim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Geçici hata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toleransı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Aynı sipariş event'i tekrar gelse bile stok ikinci kez azaltılmıyor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Retry süreleri ve deneme sayıları merkezi konfigürasyondan yönetilebiliyor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Consumer akışı daha okunabilir hale geldi ve ileride Saga / Reservation süreçlerine uygunlaştı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40" b="1">
                <a:solidFill>
                  <a:srgbClr val="0B1020"/>
                </a:solidFill>
                <a:latin typeface="Aptos"/>
              </a:rPr>
              <a:t>Consumer artık aynı event'i ikinci kez işlemiyor ve geçici hatalarda otomatik retry yapabiliyor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Dead Letter Topic ve Uçtan Uca Doğrulama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Kalıcı hata senaryolarını order-created-dlt üzerinden ayırdım ve tüm akışı hata senaryolarıyla test ettim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RETRY → DLT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OrderCreatedEvent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consumer girişi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Retry + ErrorHandler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geçici hata yönetimi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Dead Letter Topic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order-created-dlt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Retry edilmeyecek hatalar ayrıldı: InventoryNotFoundException, InsufficientStockException, InvalidStockQuantityException ve InvalidOrderCreatedEventException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Geçici bağlantı, network ve timeout gibi altyapı kaynaklı hatalar için retry akışı bırakıldı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Başarısız event'ler otomatik olarak order-created-dlt topic'ine yönlendirilecek şekilde DLT yapısı kuruldu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Aynı event'in tekrar gönderilmesi, DLT'ye düşmesi ve Kafka Console Consumer ile doğrulanması test edildi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Kalıcı hata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izolasyonu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Üretime daha yakın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consumer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Inventory bulunamayan event doğrudan DLT'ye gidiyor ve consumer döngüye girmiyor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Idempotency ile veri tutarlılığı korunuyor; retry ile geçici hatalar tolere ediliyor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Consumer yapısı gerçek üretim ortamlarında kullanılabilecek seviyeye yaklaştırıldı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Idempotency, Retry ve DLT ile Inventory Consumer normal ve hata senaryolarına karşı dayanıklı hale geldi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Inventory Reservation Modeli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Stok miktarını doğrudan düşürmek yerine sipariş bazlı rezervasyon mantığına geçtim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STOCK DECREASE → RESERVATION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OrderCreatedEvent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sipariş oluştu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reservedQuantity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artar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availableQuantity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hesaplanır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 / Saga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sonucu beklenir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Inventory Service basit stok azaltan yapıdan reservation yöneten yapıya taşındı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Sipariş oluştuğunda quantity azaltılmadı, reservedQuantity artırıldı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Her sipariş kalemi için ayrı InventoryReservation kaydı oluşturuldu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availableQuantity = quantity - reservedQuantity mantığı netleştirildi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Reservation durumları RESERVED, CONFIRMED ve RELEASED olarak enum yapısına alındı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Ödeme öncesi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stok korunur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Sipariş bazlı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takip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Ödeme başarısız olursa hangi ürünün hangi sipariş için rezerve edildiği bilinir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Toplam reservedQuantity tek başına yeterli olmadığı için reservation kayıtları eklendi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Reservation modeli, ileride Saga ve Payment süreçleri için temel oluşturdu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40" b="1">
                <a:solidFill>
                  <a:srgbClr val="0B1020"/>
                </a:solidFill>
                <a:latin typeface="Aptos"/>
              </a:rPr>
              <a:t>Stok kesin olarak düşürülmeden önce sipariş bazlı rezervasyon oluşturuluyor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Inventory Service PostgreSQL’e Geçiş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Inventory domain’i transaction ve ilişki ihtiyacı arttığı için MongoDB’den PostgreSQL’e taşındı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MONGODB →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MongoDB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@Document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JPA Entity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JpaRepository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Database-first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ddl-auto: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Inventory Service’in veritabanı ihtiyacı yeniden değerlendirildi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MongoDB Document yapıları JPA Entity yapısına dönüştürüldü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MongoRepository yerine JpaRepository kullanıldı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PostgreSQL üzerinde inventories, processed_events ve inventory_reservations tabloları oluşturuldu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JPA auditing ve PostgreSQL datasource ayarları Config Server’a taşındı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Domain’e uygun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veri teknolojisi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Transaction +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constraint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Reservation yaşam döngüsü, unique constraint ve transaction ihtiyacı belirginleşti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MongoDB çoklu document transaction için replica set gerektiriyordu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Product Service MongoDB’de kalırken Inventory Service PostgreSQL’e taşındı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Inventory Service’in persistence katmanı domain ihtiyacına uygun olarak PostgreSQL’e geçirildi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Transactional Reservation ve Idempotency Güvencesi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Stok güncelleme, reservation ve processed event kaydını tek business operation içinde yönettim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ONE BUSINESS OPERATION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Inventory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güncelle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Reservation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kaydı oluştur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ProcessedEvent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kaydı oluştur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@Transactional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rollback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Inventory güncelleme, reservation oluşturma ve ProcessedEvent kaydı aynı transaction içine alındı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ReservationService ayrı domain servisi olarak oluşturuldu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reserveStock(), confirmReservation() ve releaseReservation() yaşam döngüsü hazırlandı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Çok ürünlü siparişlerde aynı ürün miktarları birleştirilerek tek reservation kaydı oluşturuldu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order_id + product_id için compound unique constraint eklendi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Atomik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işlem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DB seviyesinde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ikinci güvence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İşlemlerden biri başarısız olursa stok, reservation ve processed event birlikte rollback olur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Aynı orderId + productId için ikinci reservation oluşması database seviyesinde engellenir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@Version ile optimistic locking korunarak eş zamanlı siparişlerde eski veriyle işlem yapılması önlenir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Reservation işlemi artık transaction, unique constraint ve optimistic locking ile güvence altında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Bozuk Mesaj Yönetimi ve Uçtan Uca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Reservation akışını normal, duplicate, yetersiz stok ve bozuk Kafka mesajı senaryolarıyla doğruladım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EVENT → VALIDATION → TRANSACTION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ErrorHandling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Deserializer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>
                <a:solidFill>
                  <a:srgbClr val="F8FAFC"/>
                </a:solidFill>
                <a:latin typeface="Aptos"/>
              </a:rPr>
              <a:t>DLT Producer</a:t>
            </a:r>
          </a:p>
          <a:p>
            <a:pPr algn="ctr"/>
            <a:r>
              <a:rPr sz="1200">
                <a:solidFill>
                  <a:srgbClr val="F8FAFC"/>
                </a:solidFill>
                <a:latin typeface="Aptos"/>
              </a:rPr>
              <a:t>object + ham byte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Kafka Console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E2E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 lnSpcReduction="20000"/>
          </a:bodyPr>
          <a:lstStyle/>
          <a:p>
            <a:pPr algn="ctr"/>
            <a:r>
              <a:rPr sz="1200">
                <a:solidFill>
                  <a:srgbClr val="F8FAFC"/>
                </a:solidFill>
                <a:latin typeface="Aptos"/>
              </a:rPr>
              <a:t>• Bozuk JSON mesajlarının consumer’ı aynı offset’te kilitlemesi engellendi</a:t>
            </a:r>
          </a:p>
          <a:p>
            <a:pPr algn="ctr"/>
            <a:r>
              <a:rPr sz="1200">
                <a:solidFill>
                  <a:srgbClr val="F8FAFC"/>
                </a:solidFill>
                <a:latin typeface="Aptos"/>
              </a:rPr>
              <a:t>• ErrorHandlingDeserializer eklendi ve geçersiz mesajların DLT’ye gitmesi sağlandı</a:t>
            </a:r>
          </a:p>
          <a:p>
            <a:pPr algn="ctr"/>
            <a:r>
              <a:rPr sz="1200">
                <a:solidFill>
                  <a:srgbClr val="F8FAFC"/>
                </a:solidFill>
                <a:latin typeface="Aptos"/>
              </a:rPr>
              <a:t>• DLT producer hem Java nesnesi hem de ham ham byte mesajları destekleyecek şekilde güncellendi</a:t>
            </a:r>
          </a:p>
          <a:p>
            <a:pPr algn="ctr"/>
            <a:r>
              <a:rPr sz="1200">
                <a:solidFill>
                  <a:srgbClr val="F8FAFC"/>
                </a:solidFill>
                <a:latin typeface="Aptos"/>
              </a:rPr>
              <a:t>• Tek ürünlü, çok ürünlü, duplicate event, yetersiz stok ve rollback senaryoları test edildi</a:t>
            </a:r>
          </a:p>
          <a:p>
            <a:pPr algn="ctr"/>
            <a:r>
              <a:rPr sz="1200">
                <a:solidFill>
                  <a:srgbClr val="F8FAFC"/>
                </a:solidFill>
                <a:latin typeface="Aptos"/>
              </a:rPr>
              <a:t>• Bozuk Kafka mesajlarının order-created-dlt topic’ine aktarıldığı doğrulandı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Oluşan Yeni Akış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Validation +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idempotency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Reservation +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ProcessedEvent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OrderCreatedEvent → Event Validation → Idempotency kontrolü → ReservationService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PostgreSQL transaction içinde Inventory, Reservation ve ProcessedEvent birlikte yönetiliyor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Payment Service ve Saga Pattern için gerekli temel hazırlandı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Inventory Service, basit stok azaltan consumer’dan transactional reservation servisine dönüştü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50" b="1">
                <a:solidFill>
                  <a:srgbClr val="F8FAFC"/>
                </a:solidFill>
                <a:latin typeface="Aptos"/>
              </a:rPr>
              <a:t>Reservation Sonuçlarının Event Olarak Yayınlanması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Inventory Service artık rezervasyon sonucunu Kafka eventleriyle diğer servislere bildiriyor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RESERVATION RESULT → EVENT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OrderCreatedEvent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Inventory Consumer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Reservation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başarılı / başarısız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InventoryReservedEvent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inventory-reserved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20" b="0">
                <a:solidFill>
                  <a:srgbClr val="F8FAFC"/>
                </a:solidFill>
                <a:latin typeface="Aptos"/>
              </a:rPr>
              <a:t>InventoryReservation</a:t>
            </a:r>
          </a:p>
          <a:p>
            <a:pPr algn="ctr"/>
            <a:r>
              <a:rPr sz="1120" b="0">
                <a:solidFill>
                  <a:srgbClr val="F8FAFC"/>
                </a:solidFill>
                <a:latin typeface="Aptos"/>
              </a:rPr>
              <a:t>FailedEvent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Inventory Service rezervasyon sonucunu Kafka üzerinden yayınlayacak hale getirildi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common-events modülüne ReservedInventoryItem, InventoryReservedEvent ve InventoryReservationFailedEvent eklendi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ReservationService artık ReservationResult döndürüyor; business service Kafka’ya doğrudan bağımlı olmadı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InventoryEventProducer ile başarılı ve başarısız reservation eventleri ayrı topiclere gönderildi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Servisler arası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sonuç bildirimi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Payment için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başlangıç sinyali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Payment Service’in ödeme başlatabilmesi için stok rezervasyonunun başarılı olduğunu bilmesi gerekir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Servisler birbirlerinin veritabanına erişmeden event sözleşmesi üzerinden haberleşir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Başarılı ve başarısız reservation sonuçları farklı eventlerle temsil edilir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Inventory Service artık reservation sonucunu eventlerle yayınlayarak Saga akışının sonraki adımını tetikleyebiliyor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Transaction Commit Sonrası Event Yayını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Başarı eventinin database transaction commit edilmeden yayınlanmasını engelledim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AFTER_COMMIT EVENT PUBLISH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Internal Spring 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yayınla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Reservation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kaydı oluştur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Transaction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commit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Kafka 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yayınla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InventoryReservationCompletedEvent yalnızca servis içi internal event olarak oluşturuldu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@TransactionalEventListener(phase = AFTER_COMMIT) ile Kafka yayını commit sonrasına taşındı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Internal application event ile dış dünyaya giden Kafka integration event birbirinden ayrıldı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Kafka message key olarak orderId kullanıldı; partition ve offset bilgileri callback ile loglandı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DB commit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sonrası yayın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Kafka’dan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bağımsız domain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Transaction rollback olursa InventoryReservedEvent yayınlanmaz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Kafka: başarılı, Database: rollback gibi tutarsızlıkların önüne geçildi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ReservationService yalnızca iş sonucunu üretir; event dönüşümü ayrı katmanda yapılır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Başarı eventleri yalnızca PostgreSQL transaction commit edildikten sonra Kafka’ya gönderiliyor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Failure Event ve DLT Akışının Ayrıştırılması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Business hataları event olarak yayınladım; teknik olarak işlenemeyen mesajları DLT’de korudum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BUSINESS FAILURE ≠ TECHNICAL DLT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Business Exception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errorCode üret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InventoryReservation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FailedEvent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Orijinal mesaj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order-created-dlt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InventoryReservationErrorCode enum yapısı oluşturuldu: INSUFFICIENT_STOCK, PRODUCT_NOT_FOUND, INVALID_EVENT, SYSTEM_ERROR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InventoryReservationFailureEventFactory ile exceptionlar standart hata kodlarına dönüştürüldü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Kalıcı business hatalarında gereksiz retry yapılmadan failure event yayınlandı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DLT akışı korunarak orijinal mesaj teknik inceleme ve replay için saklandı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Domain failure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eventi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Teknik hata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DLT saklama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Failure Event business sürecinin devamı için kullanılır: Order Service sipariş durumunu güncelleyebilir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DLT teknik inceleme, manuel replay ve orijinal mesajı koruma amacı taşır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Bozuk JSON mesajlarında orderId oluşmadığı için failure event değil, doğrudan DLT kullanılır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Business failure event ve DLT farklı amaçlarla birlikte çalışacak şekilde tasarlandı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Güncel Reservation Event Akışı ve Testler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Reservation sonucu başarılıysa inventory-reserved, başarısızsa inventory-reservation-failed yayınlanıyor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ORDER → INVENTORY → RESULT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OrderCreatedEvent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order-created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20" b="0">
                <a:solidFill>
                  <a:srgbClr val="F8FAFC"/>
                </a:solidFill>
                <a:latin typeface="Aptos"/>
              </a:rPr>
              <a:t>Inventory Transaction</a:t>
            </a:r>
          </a:p>
          <a:p>
            <a:pPr algn="ctr"/>
            <a:r>
              <a:rPr sz="1120" b="0">
                <a:solidFill>
                  <a:srgbClr val="F8FAFC"/>
                </a:solidFill>
                <a:latin typeface="Aptos"/>
              </a:rPr>
              <a:t>Reservation + ProcessedEvent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Reserved / Failed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Kafka eventleri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inventory-reserved ve inventory-reservation-failed topicleri Config Server üzerinden yönetildi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KafkaProducerConfig normal JSON eventleri ve ham byte[] DLT mesajlarını destekleyecek şekilde genelleştirildi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Başarılı reservation testinde kayıtlar oluştu, reserved_quantity arttı ve InventoryReservedEvent yayınlandı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Başarısız ve duplicate senaryolarda rollback, failure event, DLT ve tekrar event yayınlanmaması doğrulandı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Saga için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hazır sinyal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Başarı / hata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standart topicler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Payment Service yalnızca başarılı stok rezervasyonu sonrası ödeme başlatabilecek altyapıya kavuştu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Diğer servisler hata mesajı yerine standart errorCode üzerinden karar verebilir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Inventory Service, Saga akışının sonraki adımını eventlerle tetikleyebilen bir servis haline geldi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Inventory Service artık reservation sonucunu eventlerle yöneten ve Saga akışını tetikleyebilen bir servis haline geldi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Payment Service Temel Altyapısı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inventory-reserved event’i tüketilerek ödeme süreci PENDING kaydıyla başlatıldı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INVENTORY → PAYMENT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InventoryReservedEvent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inventory-reserved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 Service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validation + idempotency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PENDING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PostgreSQL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payment_db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910" b="0">
                <a:solidFill>
                  <a:srgbClr val="F8FAFC"/>
                </a:solidFill>
                <a:latin typeface="Aptos"/>
              </a:rPr>
              <a:t>• payment-service mikroservisi oluşturuldu ve sorumluluklar ayrıldı</a:t>
            </a:r>
          </a:p>
          <a:p>
            <a:pPr algn="l"/>
            <a:r>
              <a:rPr sz="910" b="0">
                <a:solidFill>
                  <a:srgbClr val="F8FAFC"/>
                </a:solidFill>
                <a:latin typeface="Aptos"/>
              </a:rPr>
              <a:t>• Spring Web MVC, JPA, PostgreSQL, Kafka, Config Client, Eureka ve Validation altyapısı eklendi</a:t>
            </a:r>
          </a:p>
          <a:p>
            <a:pPr algn="l"/>
            <a:r>
              <a:rPr sz="910" b="0">
                <a:solidFill>
                  <a:srgbClr val="F8FAFC"/>
                </a:solidFill>
                <a:latin typeface="Aptos"/>
              </a:rPr>
              <a:t>• Servis portu 8086 olarak belirlendi; ayarlar Config Server’daki payment-service.yml içine taşındı</a:t>
            </a:r>
          </a:p>
          <a:p>
            <a:pPr algn="l"/>
            <a:r>
              <a:rPr sz="910" b="0">
                <a:solidFill>
                  <a:srgbClr val="F8FAFC"/>
                </a:solidFill>
                <a:latin typeface="Aptos"/>
              </a:rPr>
              <a:t>• Bu aşamada REST controller eklenmedi; ödeme akışı tamamen Kafka event’iyle başlatıldı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Ayrı ödeme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sorumluluğu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Başarılı reservation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sonrası ödeme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Order Service siparişi, Inventory Service stok rezervasyonunu, Payment Service ödeme kaydını yönetir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Payment Service yalnızca stok rezervasyonu başarılı olan siparişler için çalışır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Gerçek ödeme sağlayıcısı entegrasyonu için PENDING ödeme altyapısı hazırlandı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Payment Service, başarılı stok rezervasyonlarından PENDING ödeme kaydı oluşturacak temel altyapıya kavuştu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Event Sözleşmesi ve Payment Domain Modeli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Payment kaydı oluşturabilmek için event contract ve ödeme modeli genişletildi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EVENT CONTRACT → PAYMENT 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OrderCreatedEvent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customerId + totalPrice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InventoryReservedEvent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customerId + totalAmount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 Entity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amount +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BigDecimal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finansal hassasiyet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InventoryReservedEvent; orderId, customerId, totalAmount, reservedItems ve reservedAt bilgilerini taşıyacak şekilde güncellendi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ReservedInventoryItem ile rezerve edilen ürün ve miktar bilgisi taşındı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Payment entity’sinde amount alanı BigDecimal olarak tasarlandı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PaymentStatus enum yapısı PENDING, SUCCEEDED ve FAILED durumlarıyla hazırlandı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Ortak event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sözleşmesi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Finansal veri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doğruluğu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Payment Service ödeme kaydı için gerekli bilgileri başka servisin veritabanına gitmeden event üzerinden alır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double / float yerine BigDecimal kullanılarak parasal hesaplarda hassasiyet kaybı önlenir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PENDING kaydı ile “ödeme kaydı oluşturma” ve “ödeme işleme” ayrıştırıldı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Event contract Payment Service’in ihtiyacına göre genişletildi ve ödeme domain’i PENDING akışına hazırlandı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Idempotent Ödeme Kaydı ve 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Aynı event tekrar gelse bile sipariş başına tek ödeme kaydı oluşacak şekilde güvence kurdum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IDEMPOTENCY + TRANSACTION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ProcessedPayment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Event kontrolü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Payment(PENDING)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kaydı oluştur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ProcessedPayment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Event kaydı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@Transactional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commit / rollback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75" b="0">
                <a:solidFill>
                  <a:srgbClr val="F8FAFC"/>
                </a:solidFill>
                <a:latin typeface="Aptos"/>
              </a:rPr>
              <a:t>• payment_db içinde payments ve processed_payment_events tabloları database-first yaklaşımla oluşturuldu</a:t>
            </a:r>
          </a:p>
          <a:p>
            <a:pPr algn="l"/>
            <a:r>
              <a:rPr sz="875" b="0">
                <a:solidFill>
                  <a:srgbClr val="F8FAFC"/>
                </a:solidFill>
                <a:latin typeface="Aptos"/>
              </a:rPr>
              <a:t>• payments.order_id ve processed_payment_events.order_id için UNIQUE constraint eklendi</a:t>
            </a:r>
          </a:p>
          <a:p>
            <a:pPr algn="l"/>
            <a:r>
              <a:rPr sz="875" b="0">
                <a:solidFill>
                  <a:srgbClr val="F8FAFC"/>
                </a:solidFill>
                <a:latin typeface="Aptos"/>
              </a:rPr>
              <a:t>• Payment ve ProcessedPaymentEvent kayıtları tek PostgreSQL transaction içinde oluşturuldu</a:t>
            </a:r>
          </a:p>
          <a:p>
            <a:pPr algn="l"/>
            <a:r>
              <a:rPr sz="875" b="0">
                <a:solidFill>
                  <a:srgbClr val="F8FAFC"/>
                </a:solidFill>
                <a:latin typeface="Aptos"/>
              </a:rPr>
              <a:t>• Event daha önce işlendiyse Payment Service işlemi atlıyor ve ikinci payment oluşturmuyor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Atomik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payment kaydı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İki seviyeli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idempotency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Payment oluştu ama processed-event oluşmadı gibi tutarsızlıkların önüne geçildi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Kafka duplicate event gönderse bile uygulama ve database seviyesinde ikinci ödeme engellenir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@Version ile ödeme durum geçişleri için optimistic locking temeli hazırlandı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Payment ve ProcessedPaymentEvent aynı transaction içinde yönetilerek duplicate eventlere karşı güvenli hale getirildi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Payment Consumer, Retry-DLT ve Testler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inventory-reserved topic’i dinlendi; normal, duplicate ve bozuk mesaj senaryoları doğrulandı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INVENTORY RESERVED → PAYMENT 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inventory-reserved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consumer group: payment-service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Validator +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ErrorHandlingDeserializer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Payment(PENDING)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veya DLT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InventoryReservedConsumer inventory-reserved topic’ini dinleyecek şekilde oluşturuldu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Event validator ile orderId, customerId, totalAmount ve reservedItems kontrol edildi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ErrorHandlingDeserializer ile bozuk JSON mesajlarının consumer’ı kilitlemesi engellendi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Retry + inventory-reserved-dlt yapısı kuruldu; JSON event ve byte[] DLT mesajları desteklendi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Başarılı akışta Payment(PENDING) ve ProcessedPaymentEvent kaydı oluştuğu test edildi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Kafka tabanlı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ödeme başlangıcı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Duplicate event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koruması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Payment Service kendi consumer group’u ile Kafka offsetlerini bağımsız takip eder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Duplicate InventoryReservedEvent tekrar gönderildiğinde yeni payment oluşturulmadı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payments ve processed_payment_events tablolarında kayıt sayısının değişmediği doğrulandı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80" b="1">
                <a:solidFill>
                  <a:srgbClr val="0B1020"/>
                </a:solidFill>
                <a:latin typeface="Aptos"/>
              </a:rPr>
              <a:t>Payment Service artık başarılı stok rezervasyonlarından idempotent ve transaction destekli PENDING ödeme kaydı oluşturuyor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PENDING Ödemelerin İşlenmesi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PENDING ödeme kayıtlarını işleyip ödeme sonucuna göre SUCCEEDED veya FAILED durumuna taşıdım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PENDING → PROCESSING →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Payment(PENDING)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kaydı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PaymentProcessing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PaymentGateway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simülasyon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SUCCEEDED / FAILED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sonuç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Ödeme kaydı oluşturma ile ödeme işleme adımlarını birbirinden ayırdım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PaymentProcessingService ile yalnızca PENDING kayıtların işlenmesini sağladım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PaymentGateway interface’i ve SimulatedPaymentGateway implementasyonu oluşturuldu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Gateway sonucu için PaymentGatewayResult modeli tasarlandı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failure-threshold değeri Config Server üzerinden yönetilebilir hale getirildi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Gateway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abstraction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Deterministik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simülasyon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Business kod belirli bir banka veya ödeme sağlayıcısına bağımlı olmadı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Rastgele sonuç yerine tekrar üretilebilir test kuralı kullanıldı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Ödeme reddi exception değil, normal business sonucu olarak FAILED durumuna çevrildi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Payment Service artık PENDING ödeme kaydını işleyip başarılı veya başarısız ödeme sonucu üretebiliyor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Payment Tutarlılığı ve Eş Zamanlı İşlem Güvenliği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Payment tablosu, durum geçişleri ve eş zamanlı işleme senaryoları için daha güvenli hale getirildi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PAYMENT CONSISTENCY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status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failure_code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completed_at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CHECK constraint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PESSIMISTIC_WRITE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findByIdForUpdate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Dirty Checking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save azaltıldı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payments tablosuna failure_code ve completed_at alanları eklendi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PENDING, SUCCEEDED ve FAILED durumları için database CHECK constraint tanımlandı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Aynı payment’ın iki kez işlenmesini önlemek için pessimistic lock kullanıldı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Tamamlanmış payment kayıtlarında gateway’in tekrar çağrılması engellendi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Gereksiz saveAndFlush() kullanımları kaldırıldı; JPA dirty checking’den yararlanıldı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DB seviyesinde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kural koruması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Çift ödeme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önleme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Uygulama hatası olsa bile PostgreSQL geçersiz payment durumlarını kabul etmez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Aynı payment üzerinde eş zamanlı iki işlem yapılması engellenir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Duplicate event geldiğinde SUCCEEDED / FAILED kayıtlar yeniden işlenmez ve ikinci sonuç eventi yayınlanmaz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Payment durumu hem uygulama hem database seviyesinde güvence altına alındı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Ödeme Sonuçlarının Kafka Üzerinden Yayınlanması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Payment sonucu commit edildikten sonra payment-succeeded veya payment-failed eventleri yayınlanacak hale getirildi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PAYMENT RESULT → KAFKA EVENT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PaymentProcessing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internal event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AFTER_COMMIT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transaction listener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payment-succeeded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payment-failed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PaymentSucceededInternalEvent ve PaymentFailedInternalEvent modelleri oluşturuldu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common-events modülüne PaymentSucceededEvent, PaymentFailedEvent ve PaymentFailureCode eklendi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@TransactionalEventListener(AFTER_COMMIT) ile event yayını commit sonrasına taşındı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PaymentEventProducer ile payment-succeeded ve payment-failed topiclerine event gönderildi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Kafka message key olarak orderId kullanıldı; partition ve offset bilgileri loglandı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Commit sonrası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yayın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Saga için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sonuç eventi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Database rollback olursa ödeme sonucu Kafka’ya gönderilmez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PaymentProcessingService Kafka altyapısına doğrudan bağlanmaz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Order ve Inventory servisleri ödeme sonucunu eventler üzerinden dinleyebilecek hale gelir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Payment sonucu artık transaction commit edildikten sonra Kafka eventleriyle diğer servislere bildiriliyor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Payment Akışı Testleri ve Saga İçin Hazırlık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Başarılı, başarısız ve duplicate ödeme senaryolarını test ederek compensation adımı için temel hazırladım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PAYMENT E2E → SAGA NEXT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45000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SUCCEEDED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100000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FAILED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Duplicate 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tekrar işlenmez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45000 tutarlı ödeme testinde PENDING → SUCCEEDED geçişi ve payment-succeeded eventi doğrulandı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100000 tutarlı ödeme testinde PENDING → FAILED geçişi ve payment-failed eventi doğrulandı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Başarısız ödeme business sonucu olduğu için DLT’ye yeni mesaj düşmediği kontrol edildi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Duplicate InventoryReservedEvent gönderildiğinde ikinci gateway çağrısı ve ikinci sonuç eventi oluşmadı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Payment FAILED olsa da Inventory reservation’ın henüz RESERVED kaldığı gözlemlendi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Business failure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DLT değildir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Compensation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hazırlığı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Ödeme reddi normal domain sonucu olarak payment-failed topic’ine yayınlandı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Teknik hatalar retry / DLT mekanizmasına bırakıldı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Sonraki adımda Inventory Service payment-succeeded ile CONFIRMED, payment-failed ile RELEASED yapısına geçecek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Payment Service ödeme işleyip sonuç eventleri üreten; Inventory compensation adımına hazır bir servis haline geldi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Ödeme Sonuçlarının Inventory Service Tarafından İşlenmesi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Payment result eventleri tüketilerek reservation yaşam döngüsü tamamlandı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PAYMENT RESULT → RESERVATION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PaymentSucceededEvent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payment-succeeded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Reservation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CONFIRMED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PaymentFailedEvent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payment-failed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Reservation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RELEASED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Inventory Service payment-succeeded ve payment-failed topiclerini dinlemeye başladı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PaymentSucceededConsumer ve PaymentFailedConsumer sınıfları oluşturuldu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PaymentResultEventValidator ile event alanları doğrulandı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Geçersiz ödeme sonucu eventleri için InvalidPaymentResultEventException tanımlandı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Consumer, validator ve business processing sorumlulukları ayrıldı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Reservation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yaşam döngüsü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Servisler arası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event sözleşmesi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Reservation artık sonsuza kadar RESERVED durumunda kalmıyor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Inventory Service ödeme sonucunu Payment DB’ye erişmeden Kafka eventleriyle öğreniyor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Başarılı ve başarısız payment sonuçları farklı stok işlemlerine dönüştürülüyor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Inventory Service artık ödeme sonucuna göre reservation’ı CONFIRMED veya RELEASED durumuna taşıyabiliyor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Confirmation ve Compensation Akışları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Başarılı ödemede satış kesinleşti, başarısız ödemede ayrılmış stok serbest bırakıldı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CONFIRMED ≠ RELEASED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Payment SUCCEEDED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CONFIRMED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quantity azalır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reserved azalır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Payment FAILED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RELEASED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quantity sabit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reserved azalır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PaymentSucceededEvent geldiğinde orderId’ye ait reservation kayıtları CONFIRMED yapıldı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Confirmation sırasında quantity ve reserved_quantity birlikte azaltıldı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PaymentFailedEvent geldiğinde reservation kayıtları RELEASED yapıldı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Release işleminde gerçek quantity değişmedi, yalnızca reserved_quantity azaltıldı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Başarısız ödeme, Saga compensation adımı olarak stok rezervasyonunu serbest bıraktı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Satış kesinleşirse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gerçek stok düşer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Ödeme başarısızsa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stok serbest kalır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Confirmation sonrası availableQuantity değişmez; ürün zaten reservation aşamasında kapatılmıştır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Compensation ile başarısız ödeme stokları gereksiz yere bloke etmez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Inventory Service, Saga akışında başarılı ve telafi adımlarını yönetmeye başladı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Ödeme başarılıysa reservation satışa dönüşür; ödeme başarısızsa ayrılmış stok geri bırakılır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Reservation Tutarlılığı ve Idempotent Result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Çok ürünlü siparişlerde tüm reservation kayıtları tek transaction içinde güvenli şekilde güncellendi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LOCKING + STATE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PESSIMISTIC_WRITE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reservation lock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Tek orderId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tüm kalemler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Duplicate result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idempotent skip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Reservation ve Inventory kayıtları PESSIMISTIC_WRITE ile kilitlenerek güncellendi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Bir siparişe ait tüm reservation kayıtları orderId üzerinden birlikte işlendi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Aynı siparişe ait reservation status değerlerinin tutarlı olması kontrol edildi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CONFIRMED / RELEASED gibi çelişkili geçişleri engellemek için ReservationStateConflictException eklendi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Duplicate success / failure eventlerinde ikinci stok değişimi yapılmadı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Çok ürünlü sipariş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atomik güncelleme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Çelişkili event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koruması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Çok ürünlü siparişin yalnızca bir kısmının güncellenmesi engellendi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Aynı event tekrar geldiğinde quantity, reserved_quantity, version ve timestamp değişmedi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Eş zamanlı payment result eventleri veri tutarlılığını bozmadan yönetilebilir hale geldi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Reservation result handling işlemi idempotent, kilitli ve state conflict kontrolleriyle güvenli hale geldi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Payment Result DLT ve Saga Akışı Testleri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Başarılı, başarısız, duplicate ve çelişkili ödeme sonucu senaryolarını test ettim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PAYMENT RESULT → INVENTORY SAGA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payment-succeeded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CONFIRMED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payment-failed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RELEASED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payment-*-dlt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hata izolasyonu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payment-succeeded ve payment-failed akışları için ayrı consumer factory ve error handler oluşturuldu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Hatalı payment result eventleri payment-succeeded-dlt veya payment-failed-dlt topiclerine yönlendirildi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Başarısız ödeme testinde reservation RELEASED oldu ve reserved_quantity azaldı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Başarılı ödeme testinde reservation CONFIRMED oldu ve gerçek quantity azaltıldı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Duplicate success / failure eventleri tekrar stok değiştirmedi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Bağımsız retry / DLT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akışı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Saga başarılı +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compensation tamamlandı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OrderCreatedEvent → Inventory RESERVED → Payment sonucu → Inventory CONFIRMED / RELEASED akışı tamamlandı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Başarısız ödeme artık compensation ile stokları serbest bırakıyor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Inventory Service idempotent ve transaction destekli bir Saga katılımcısı haline geldi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Inventory Service, ödeme sonucuna göre rezervasyonu kesinleştiren veya geri alan Saga katılımcısına dönüştü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Ödeme ve Stok Sonuçlarının Order Service Tarafından İşlenmesi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Order Service artık Saga sonucunu dinleyip sipariş durumunu dağıtık işlem sonucuna göre güncelliyor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RESULT EVENTS → ORDER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PaymentSucceededEvent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payment-succeeded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PaymentFailedEvent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payment-failed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Order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PAYMENT_FAILED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OrderStatus yapısı CREATED, PAID, PAYMENT_FAILED ve INVENTORY_FAILED olacak şekilde genişletildi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payment-succeeded, payment-failed ve inventory-reservation-failed topicleri dinlenmeye başlandı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Her event tipi için ayrı consumer oluşturuldu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Consumer, validator ve OrderResultProcessingService sorumlulukları ayrıldı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Saga sonucunu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takip etme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Müşteriye güncel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sipariş durumu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Order Service artık oluşturduğu siparişin başarılı mı başarısız mı sonuçlandığını biliyor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PAID, PAYMENT_FAILED ve INVENTORY_FAILED terminal sonuçları sipariş üzerinde tutuluyor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Sipariş durumu Kafka eventleriyle, diğer servislerin veritabanına erişmeden güncelleniyor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0" b="1">
                <a:solidFill>
                  <a:srgbClr val="0B1020"/>
                </a:solidFill>
                <a:latin typeface="Aptos"/>
              </a:rPr>
              <a:t>Order Service yalnızca sipariş oluşturan servis olmaktan çıkıp Saga sonucunu izleyen servis haline geldi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Order Status Tutarlılığı ve Idempotent Result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Event sonuçları Order kaydıyla eşleştirildi; duplicate ve çelişkili sonuçlar güvenli yönetildi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MATCHING + STATE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>
                <a:solidFill>
                  <a:srgbClr val="F8FAFC"/>
                </a:solidFill>
                <a:latin typeface="Aptos"/>
              </a:rPr>
              <a:t>Event / Order</a:t>
            </a:r>
          </a:p>
          <a:p>
            <a:pPr algn="ctr"/>
            <a:r>
              <a:rPr sz="1100">
                <a:solidFill>
                  <a:srgbClr val="F8FAFC"/>
                </a:solidFill>
                <a:latin typeface="Aptos"/>
              </a:rPr>
              <a:t>amount + customer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CREATED →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terminal status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PESSIMISTIC_WRITE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+ @Version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payment event içindeki customerId ve amount değerleri Order kaydıyla karşılaştırıldı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Yalnızca CREATED durumundaki siparişlerin terminal statüye geçmesine izin verildi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PAID, PAYMENT_FAILED ve INVENTORY_FAILED arasındaki çelişkili geçişler engellendi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Duplicate eventlerde mevcut status aynıysa işlem idempotent şekilde atlandı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Order kaydı findByIdForUpdate() ve @Version ile eş zamanlı işlemlere karşı korundu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Yanlış event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koruması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Duplicate event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koruması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Yanlış amount veya customerId içeren eventler OrderResultMismatchException ile ayrıldı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Tamamlanmış sipariş sonradan gelen çelişkili bir event ile değiştirilmiyor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Duplicate mesajlarda status, version ve timestamp değerleri değişmeden kalıyor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0" b="1">
                <a:solidFill>
                  <a:srgbClr val="0B1020"/>
                </a:solidFill>
                <a:latin typeface="Aptos"/>
              </a:rPr>
              <a:t>Order status update işlemi event matching, state conflict ve locking kontrolleriyle güvenli hale geldi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OrderCreatedEvent Yayını ve Order DLT Yapısı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OrderCreatedEvent yayını commit sonrasına taşındı; Order Service hataları ayrı DLT topiclerinde izole edildi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ORDER EVENT + RESULT DLT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OrderCreatedEvent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AFTER_COMMIT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payment-*-order-dlt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Order hataları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inventory-failed-order-dlt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stok sonucu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OrderCreatedEvent yayını @TransactionalEventListener(AFTER_COMMIT) ile commit sonrasına taşındı</a:t>
            </a:r>
          </a:p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Order ve OrderItem kayıtları rollback olursa Kafka’ya hatalı event gönderilmesi engellendi</a:t>
            </a:r>
          </a:p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Order Service için ayrı DLT topicleri oluşturuldu: payment-succeeded-order-dlt, payment-failed-order-dlt ve inventory-reservation-failed-order-dlt</a:t>
            </a:r>
          </a:p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Geçersiz event, sipariş bulunamaması, amount uyuşmazlığı ve state conflict kalıcı hata olarak DLT’ye yönlendirildi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Commit sonrası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yayın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Servise özel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DLT izolasyonu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Database rollback sonrası OrderCreatedEvent yayınlanması engellendi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Aynı kaynak eventin Inventory ve Order tarafındaki hataları birbirine karışmıyor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Retry edilmeyecek iş kuralı hataları ayrı Order DLT topiclerinde takip edilebiliyor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90" b="1">
                <a:solidFill>
                  <a:srgbClr val="0B1020"/>
                </a:solidFill>
                <a:latin typeface="Aptos"/>
              </a:rPr>
              <a:t>Order Service hem kendi yayınladığı eventleri hem de sonuç eventlerini transaction güvenliğiyle yönetmeye başladı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Güncel Saga Sonucu ve Uçtan Uca Testler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Başarılı ödeme, başarısız ödeme ve yetersiz stok senaryolarında Order status güncellemeleri doğrulandı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ORDER SAGA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Başarılı akış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Order PAID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Payment failed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PAYMENT_FAILED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Inventory failed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INVENTORY_FAILED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Duplicate / conflict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DLT veya skip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PaymentSucceededEvent ile Order 31 için CREATED → PAID geçişi doğrulandı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PaymentFailedEvent ile Order 32 için CREATED → PAYMENT_FAILED geçişi doğrulandı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InventoryReservationFailedEvent ile yetersiz stok senaryosunda CREATED → INVENTORY_FAILED geçişi doğrulandı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Duplicate success / failure, yanlış payment amount ve çelişkili terminal status senaryoları test edildi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Güncel Saga Sonucu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Başarılı sipariş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PAID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Başarısız sipariş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FAILED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Order CREATED → Inventory RESERVED → Payment SUCCEEDED → Inventory CONFIRMED → Order PAID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Order CREATED → Inventory RESERVED → Payment FAILED → Inventory RELEASED → Order PAYMENT_FAILED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Order CREATED → Inventory reservation failed → Order INVENTORY_FAILED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90" b="1">
                <a:solidFill>
                  <a:srgbClr val="0B1020"/>
                </a:solidFill>
                <a:latin typeface="Aptos"/>
              </a:rPr>
              <a:t>Order Service, Saga sürecinin nihai sonucunu takip eden ve müşteriye güncel sipariş durumunu sunan servis haline geldi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Transactional Outbox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Order kaydı ile OrderCreatedEvent bilgisini aynı PostgreSQL transaction içinde güvenceye aldım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DUAL WRITE RISK → OUTBOX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 kaydı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Outbox 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PENDING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Tek DB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transaction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OrderCreatedEvent’in database commit sonrası doğrudan Kafka’ya gönderildiği yapı iyileştirildi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Servis Kafka publish işleminden önce kapanırsa event kaybolabilir riskini ele aldım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order_outbox_events tablosu oluşturuldu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Order ve Outbox kaydı aynı PostgreSQL transaction içinde oluşturuldu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Outbox status alanı PENDING ve PUBLISHED olarak tasarlandı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Dual-write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riskini azaltma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Event kaybına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karşı koruma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Order database’e kaydedildikten sonra Kafka erişilemezse event kaybolmamalıdır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Event bilgisi kalıcı olarak Outbox tablosunda tutulduğu için servis kapanması akışı bozmaz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Saga’nın ilk eventi güvenilir şekilde yayınlanabilecek hale gelir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30" b="1">
                <a:solidFill>
                  <a:srgbClr val="0B1020"/>
                </a:solidFill>
                <a:latin typeface="Aptos"/>
              </a:rPr>
              <a:t>Order Service artık domain kaydı ile event bilgisini atomik biçimde saklayan yapıya geçti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Order ve Outbox Kaydının Atomik Oluşturulması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Kafka publish doğrudan transaction içinde değil; Outbox kaydı üzerinden yönetilecek hale getirildi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ORDER + OUTBOX TRANSACTION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createOrder()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business akış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 + Items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kaydet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Outbox(PENDING)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payload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Sipariş oluşturma sırasında OrderCreatedEvent modeli hazırlandı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Event JSON payload olarak Outbox tablosuna yazıldı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aggregate_id, event_type, topic, message_key, payload, status, retry_count ve last_error alanları eklendi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Outbox kayıt servisinde Propagation.MANDATORY kullanıldı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Eski OrderCreatedInternalEvent, listener ve doğrudan OrderProducer akışı kaldırıldı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Tek transaction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güvencesi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Kafka’dan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bağımsız 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Order oluştu ama event kaydı oluşmadı gibi yarım sonuçlar engellendi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Event, Kafka’ya gönderilmeden önce database’de kalıcı hale geliyor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Kafka publish artık request transaction’ının başarısına doğrudan bağlı değil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30" b="1">
                <a:solidFill>
                  <a:srgbClr val="0B1020"/>
                </a:solidFill>
                <a:latin typeface="Aptos"/>
              </a:rPr>
              <a:t>OrderCreatedEvent bilgisi, Order kaydıyla aynı transaction içinde Outbox’a yazılıyor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Outbox Publisher, Retry ve Çoklu Instance Desteği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PENDING Outbox eventleri scheduler ile Kafka’ya gönderildi; başarısız denemeler takip edildi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PENDING → PUBLISH → PUBLISHED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Scheduler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PENDING bul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Kafka publish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byte[] JSON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PUBLISHED / Retry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status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PENDING eventleri batch olarak seçip Kafka’ya gönderen Outbox Publisher geliştirildi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fixed-delay, batch-size, send-timeout ve retry-delay ayarları Config Server’a taşındı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Çoklu instance için PostgreSQL FOR UPDATE SKIP LOCKED kullanıldı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Payload Kafka’ya ham UTF-8 byte[] olarak gönderildi; çift serialize problemi engellendi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outbox-event-id ve event-type Kafka header bilgileri eklendi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Yatay ölçek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uyumluluğu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İzlenebilir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yayın süreci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Aynı Outbox kaydını iki instance’ın aynı anda işlemesi engellendi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Başarısız gönderimlerde retry_count, last_error ve next_attempt_at güncelleniyor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Başarılı gönderimde status PUBLISHED oluyor ve published_at dolduruluyor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Outbox Publisher eventleri güvenilir, izlenebilir ve çoklu instance uyumlu şekilde Kafka’ya taşıyor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Outbox Testleri ve Güncel Event Yayınlama Akışı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Kafka kesintisi, kurtarma ve at-least-once senaryolarıyla Outbox yapısı doğrulandı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ORDER OUTBOX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Kafka açık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PUBLISHED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Kafka kapalı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PENDING + retry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Kafka açılır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Saga devam eder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At-least-once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idempotent consumer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25" b="0">
                <a:solidFill>
                  <a:srgbClr val="F8FAFC"/>
                </a:solidFill>
                <a:latin typeface="Aptos"/>
              </a:rPr>
              <a:t>• Kafka açıkken OrderCreatedEvent’in Outbox üzerinden yayınlanıp PUBLISHED olduğu doğrulandı</a:t>
            </a:r>
          </a:p>
          <a:p>
            <a:pPr algn="l"/>
            <a:r>
              <a:rPr sz="825" b="0">
                <a:solidFill>
                  <a:srgbClr val="F8FAFC"/>
                </a:solidFill>
                <a:latin typeface="Aptos"/>
              </a:rPr>
              <a:t>• Kafka kapalıyken Order ve Outbox PENDING kaydı oluştu; API isteği tamamlandı</a:t>
            </a:r>
          </a:p>
          <a:p>
            <a:pPr algn="l"/>
            <a:r>
              <a:rPr sz="825" b="0">
                <a:solidFill>
                  <a:srgbClr val="F8FAFC"/>
                </a:solidFill>
                <a:latin typeface="Aptos"/>
              </a:rPr>
              <a:t>• Kafka tekrar açıldığında scheduler event’i yayınladı ve Saga otomatik devam etti</a:t>
            </a:r>
          </a:p>
          <a:p>
            <a:pPr algn="l"/>
            <a:r>
              <a:rPr sz="825" b="0">
                <a:solidFill>
                  <a:srgbClr val="F8FAFC"/>
                </a:solidFill>
                <a:latin typeface="Aptos"/>
              </a:rPr>
              <a:t>• Producer timeout ayarlarıyla retry_count ve last_error bilgilerinin güncellendiği test edildi</a:t>
            </a:r>
          </a:p>
          <a:p>
            <a:pPr algn="l"/>
            <a:r>
              <a:rPr sz="825" b="0">
                <a:solidFill>
                  <a:srgbClr val="F8FAFC"/>
                </a:solidFill>
                <a:latin typeface="Aptos"/>
              </a:rPr>
              <a:t>• Yayınlanmış event tekrar PENDING yapılarak at-least-once davranışı ve idempotent consumer kontrolü doğrulandı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Güncel Yayınlama Akışı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Order + Outbox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commit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Scheduler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Kafka publish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Order API → Order + OrderItem + Outbox(PENDING) aynı PostgreSQL transaction içinde kaydedilir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Outbox Scheduler → Kafka order-created → Outbox PUBLISHED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Kafka kesintisinde event kaybolmaz; Kafka geri geldiğinde Saga kaldığı yerden devam eder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Order Service, Kafka kesintilerinden sonra event yayınlamaya devam edebilen Outbox tabanlı yapıya geçti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50" b="1">
                <a:solidFill>
                  <a:srgbClr val="F8FAFC"/>
                </a:solidFill>
                <a:latin typeface="Aptos"/>
              </a:rPr>
              <a:t>Inventory Service’e Transactional Outbox Entegrasyonu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Order Service’te kurulan Outbox standardını Inventory’nin reservation result eventlerine uyguladım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RESERVATION RESULT → OUTBOX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InventoryReservedEvent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success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InventoryReservation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FailedEvent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inventory_outbox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PENDING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inventory_outbox_events tablosu oluşturuldu; status PENDING / PUBLISHED olarak yönetildi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InventoryReservedEvent ve InventoryReservationFailedEvent için doğrudan Kafka publish akışı kaldırıldı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Başarılı reservation sonucunda Inventory, Reservation, ProcessedEvent ve Outbox kaydı aynı transaction içinde oluşturuldu</a:t>
            </a:r>
          </a:p>
          <a:p>
            <a:pPr algn="l"/>
            <a:r>
              <a:rPr sz="890" b="0">
                <a:solidFill>
                  <a:srgbClr val="F8FAFC"/>
                </a:solidFill>
                <a:latin typeface="Aptos"/>
              </a:rPr>
              <a:t>• Başarısız reservation senaryosunda rollback sonrası REQUIRES_NEW transaction ile failure Outbox kaydı yazıldı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Success / failure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akış ayrımı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Event kaybına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karşı koruma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Kafka kapalı olsa bile reservation sonucunu temsil eden event bilgisi database’de kalıcı kalır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Success event business transaction ile birlikte güvenceye alınır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Failure event, rollback sonrası ayrı transaction ile kaydedilerek kaybolmaz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40" b="1">
                <a:solidFill>
                  <a:srgbClr val="0B1020"/>
                </a:solidFill>
                <a:latin typeface="Aptos"/>
              </a:rPr>
              <a:t>Inventory Service artık reservation sonucunu Kafka erişilebilirliğinden bağımsız şekilde Outbox üzerinden yayınlayabiliyor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Inventory Outbox Publisher ve Testler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PENDING Inventory outbox eventleri scheduler ile Kafka’ya taşındı; kesinti ve duplicate senaryoları doğrulandı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INVENTORY OUTBOX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Scheduler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PENDING bul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Kafka publish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byte[] JSON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PUBLISHED / Retry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status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PENDING kayıtları belirli aralıklarla Kafka’ya gönderen Inventory Outbox Scheduler eklendi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Çoklu instance için FOR UPDATE SKIP LOCKED kullanıldı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Payload JSON olarak Outbox’ta tutuldu, Kafka’ya UTF-8 byte[] olarak gönderildi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max.block.ms, request.timeout.ms ve delivery.timeout.ms ile Kafka kesintilerinde bloklanma azaltıldı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InventoryConsumer yalnızca validation ve processing akışını yönetecek şekilde sade tutuldu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Testler ve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Kafka kesintisi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kayıp yok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Duplicate event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etkisiz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Başarılı reservation’da Outbox PENDING → PUBLISHED oldu ve Saga devam etti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Yetersiz stokta transaction rollback oldu; failure event Outbox’a yazıldı ve Order INVENTORY_FAILED oldu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Duplicate OrderCreatedEvent yeni reservation veya yeni Outbox kaydı oluşturmadı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Kafka kapalıyken retry_count / last_error güncellendi; Kafka açılınca event yayınlandı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30" b="1">
                <a:solidFill>
                  <a:srgbClr val="0B1020"/>
                </a:solidFill>
                <a:latin typeface="Aptos"/>
              </a:rPr>
              <a:t>Inventory Service’in başarılı ve başarısız reservation eventleri Outbox ile güvenilir yayınlanabilir hale geldi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Payment Service’e Transactional Outbox Entegrasyonu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Order ve Inventory’de kurulan Outbox standardını Payment sonuç eventlerine uyguladım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PAYMENT RESULT → OUTBOX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PaymentSucceededEvent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success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PaymentFailedEvent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failure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payment_outbox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PENDING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5" b="0">
                <a:solidFill>
                  <a:srgbClr val="F8FAFC"/>
                </a:solidFill>
                <a:latin typeface="Aptos"/>
              </a:rPr>
              <a:t>• payment_outbox_events tablosu oluşturuldu; status PENDING / PUBLISHED olarak yönetildi</a:t>
            </a:r>
          </a:p>
          <a:p>
            <a:pPr algn="l"/>
            <a:r>
              <a:rPr sz="865" b="0">
                <a:solidFill>
                  <a:srgbClr val="F8FAFC"/>
                </a:solidFill>
                <a:latin typeface="Aptos"/>
              </a:rPr>
              <a:t>• PaymentSucceededEvent ve PaymentFailedEvent için doğrudan Kafka publish akışı kaldırıldı</a:t>
            </a:r>
          </a:p>
          <a:p>
            <a:pPr algn="l"/>
            <a:r>
              <a:rPr sz="865" b="0">
                <a:solidFill>
                  <a:srgbClr val="F8FAFC"/>
                </a:solidFill>
                <a:latin typeface="Aptos"/>
              </a:rPr>
              <a:t>• Payment SUCCEEDED + success Outbox kaydı aynı transaction içinde oluşturuldu</a:t>
            </a:r>
          </a:p>
          <a:p>
            <a:pPr algn="l"/>
            <a:r>
              <a:rPr sz="865" b="0">
                <a:solidFill>
                  <a:srgbClr val="F8FAFC"/>
                </a:solidFill>
                <a:latin typeface="Aptos"/>
              </a:rPr>
              <a:t>• Payment FAILED + failure Outbox kaydı aynı transaction içinde oluşturuldu</a:t>
            </a:r>
          </a:p>
          <a:p>
            <a:pPr algn="l"/>
            <a:r>
              <a:rPr sz="865" b="0">
                <a:solidFill>
                  <a:srgbClr val="F8FAFC"/>
                </a:solidFill>
                <a:latin typeface="Aptos"/>
              </a:rPr>
              <a:t>• Eski internal event, AFTER_COMMIT listener ve PaymentEventProducer akışı kaldırıldı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Business / teknik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hata ayrımı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Ödeme sonucu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kaybolmaz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Ödeme durumu güncellenmişse ilgili event bilgisi de database’de kalıcı bulunur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Ödeme reddi business sonucudur: Payment FAILED + Outbox PENDING commit edilir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Teknik gateway hatasında transaction rollback olur; Payment PENDING kalır ve consumer retry yapar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Payment Service artık ödeme sonucunu Kafka erişilebilirliğinden bağımsız şekilde Outbox üzerinden yayınlayabiliyor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Payment Outbox Publisher ve Testler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PENDING payment outbox eventleri scheduler ile Kafka’ya taşındı; kesinti ve duplicate senaryoları doğrulandı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PAYMENT OUTBOX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Scheduler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PENDING bul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r>
              <a:rPr sz="1200">
                <a:solidFill>
                  <a:srgbClr val="F8FAFC"/>
                </a:solidFill>
                <a:latin typeface="Aptos"/>
              </a:rPr>
              <a:t>Kafka publish</a:t>
            </a:r>
          </a:p>
          <a:p>
            <a:r>
              <a:rPr sz="1200">
                <a:solidFill>
                  <a:srgbClr val="F8FAFC"/>
                </a:solidFill>
                <a:latin typeface="Aptos"/>
              </a:rPr>
              <a:t>byte array JSON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PUBLISHED / Retry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status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r>
              <a:rPr sz="855">
                <a:solidFill>
                  <a:srgbClr val="F8FAFC"/>
                </a:solidFill>
                <a:latin typeface="Aptos"/>
              </a:rPr>
              <a:t>• PENDING kayıtları Kafka’ya gönderen Payment Outbox Scheduler eklendi</a:t>
            </a:r>
          </a:p>
          <a:p>
            <a:r>
              <a:rPr sz="855">
                <a:solidFill>
                  <a:srgbClr val="F8FAFC"/>
                </a:solidFill>
                <a:latin typeface="Aptos"/>
              </a:rPr>
              <a:t>• Çoklu instance için FOR UPDATE SKIP LOCKED kullanıldı</a:t>
            </a:r>
          </a:p>
          <a:p>
            <a:r>
              <a:rPr sz="855">
                <a:solidFill>
                  <a:srgbClr val="F8FAFC"/>
                </a:solidFill>
                <a:latin typeface="Aptos"/>
              </a:rPr>
              <a:t>• Payload JSON olarak Outbox’ta tutuldu, Kafka’ya UTF-8 byte array olarak gönderildi</a:t>
            </a:r>
          </a:p>
          <a:p>
            <a:r>
              <a:rPr sz="855">
                <a:solidFill>
                  <a:srgbClr val="F8FAFC"/>
                </a:solidFill>
                <a:latin typeface="Aptos"/>
              </a:rPr>
              <a:t>• max.block.ms, request.timeout.ms ve delivery.timeout.ms ile Kafka kesintilerinde bloklanma azaltıldı</a:t>
            </a:r>
          </a:p>
          <a:p>
            <a:r>
              <a:rPr sz="855">
                <a:solidFill>
                  <a:srgbClr val="F8FAFC"/>
                </a:solidFill>
                <a:latin typeface="Aptos"/>
              </a:rPr>
              <a:t>• Başarısız gönderimlerde retry_count, last_error ve next_attempt_at güncelleniyor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Testler ve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Kafka kesintisi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kayıp yok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Duplicate event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etkisiz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19" b="0">
                <a:solidFill>
                  <a:srgbClr val="F8FAFC"/>
                </a:solidFill>
                <a:latin typeface="Aptos"/>
              </a:rPr>
              <a:t>• Başarılı ödeme testinde Payment SUCCEEDED, PaymentSucceededEvent PUBLISHED oldu; Order PAID ve Inventory CONFIRMED akışı doğrulandı</a:t>
            </a:r>
          </a:p>
          <a:p>
            <a:pPr algn="l"/>
            <a:r>
              <a:rPr sz="819" b="0">
                <a:solidFill>
                  <a:srgbClr val="F8FAFC"/>
                </a:solidFill>
                <a:latin typeface="Aptos"/>
              </a:rPr>
              <a:t>• Başarısız ödeme testinde Payment FAILED, PaymentFailedEvent PUBLISHED oldu; Order PAYMENT_FAILED ve Inventory RELEASED akışı doğrulandı</a:t>
            </a:r>
          </a:p>
          <a:p>
            <a:pPr algn="l"/>
            <a:r>
              <a:rPr sz="819" b="0">
                <a:solidFill>
                  <a:srgbClr val="F8FAFC"/>
                </a:solidFill>
                <a:latin typeface="Aptos"/>
              </a:rPr>
              <a:t>• Duplicate InventoryReservedEvent yeni payment, ikinci ödeme veya yeni Outbox kaydı oluşturmadı</a:t>
            </a:r>
          </a:p>
          <a:p>
            <a:pPr algn="l"/>
            <a:r>
              <a:rPr sz="819" b="0">
                <a:solidFill>
                  <a:srgbClr val="F8FAFC"/>
                </a:solidFill>
                <a:latin typeface="Aptos"/>
              </a:rPr>
              <a:t>• Kafka kapalıyken event PENDING kaldı; Kafka açılınca PENDING → PUBLISHED geçişiyle Saga devam etti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Order, Inventory ve Payment servislerinin ürettiği Saga eventleri artık Transactional Outbox üzerinden güvenilir şekilde yayınlanıyor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Outbox Bakım ve İzlenebilirlik Yapısının Eklenmesi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Order, Inventory ve Payment Outbox tablolarını uzun süreli çalışmaya uygun hale getirdim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OUTBOX → MAINTENANCE + MONITORING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PUBLISHED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7 günden eski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Batch cleanup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500 kayıt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Monitoring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PENDING + retry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feature/outbox-maintenance branch’i üzerinde Outbox bakım yapısı geliştirildi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Order, Inventory ve Payment Service için eski PUBLISHED kayıtları temizleyen scheduler eklendi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PENDING kayıtların asla silinmemesi kuralı korundu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Temizlik batch halinde yapıldı; varsayılan batch büyüklüğü 500 olarak ayarlandı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FOR UPDATE SKIP LOCKED ile çoklu instance senaryolarında aynı kayıtların birlikte seçilmesi engellendi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Kontrollü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tablo büyümesi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Sorunlu event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görünürlüğü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Outbox tabloları uzun süre çalışırken kontrolsüz büyümez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Yayınlanmayı bekleyen eventler düzenli olarak görünür hale gelir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Cleanup ve monitoring ayarları Config Server üzerinden değiştirilebilir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Bakım işlemi event kaybı oluşturmadan, yalnızca güvenli kayıtları temizler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40" b="1">
                <a:solidFill>
                  <a:srgbClr val="0B1020"/>
                </a:solidFill>
                <a:latin typeface="Aptos"/>
              </a:rPr>
              <a:t>Outbox yapısı yalnızca event kaybını önleyen değil; temizlenebilir ve takip edilebilir bir altyapıya dönüştü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Outbox Monitoring ve Bakım Testleri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PENDING eventlerin izlenmesi, eski PUBLISHED kayıtların temizlenmesi ve uyarı logları test edildi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OUTBOX LIFECYCLE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PENDING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oluşur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PUBLISHED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retention süresi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Cleanup +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75" b="0">
                <a:solidFill>
                  <a:srgbClr val="F8FAFC"/>
                </a:solidFill>
                <a:latin typeface="Aptos"/>
              </a:rPr>
              <a:t>• Monitoring scheduler ile pendingCount, oldestPendingAgeSeconds ve highRetryPendingCount takip edildi</a:t>
            </a:r>
          </a:p>
          <a:p>
            <a:pPr algn="l"/>
            <a:r>
              <a:rPr sz="875" b="0">
                <a:solidFill>
                  <a:srgbClr val="F8FAFC"/>
                </a:solidFill>
                <a:latin typeface="Aptos"/>
              </a:rPr>
              <a:t>• Log seviyeleri duruma göre ayrıldı: DEBUG, INFO ve WARN</a:t>
            </a:r>
          </a:p>
          <a:p>
            <a:pPr algn="l"/>
            <a:r>
              <a:rPr sz="875" b="0">
                <a:solidFill>
                  <a:srgbClr val="F8FAFC"/>
                </a:solidFill>
                <a:latin typeface="Aptos"/>
              </a:rPr>
              <a:t>• Bekleme uyarı sınırı 60 saniye, yüksek retry sınırı 3 olarak belirlendi</a:t>
            </a:r>
          </a:p>
          <a:p>
            <a:pPr algn="l"/>
            <a:r>
              <a:rPr sz="875" b="0">
                <a:solidFill>
                  <a:srgbClr val="F8FAFC"/>
                </a:solidFill>
                <a:latin typeface="Aptos"/>
              </a:rPr>
              <a:t>• Bakım sıklığı, retention süresi, batch büyüklüğü ve monitoring ayarları Config Server’a taşındı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Testler ve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PUBLISHED cleanup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başarılı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PENDING kayıt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korundu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8 günden eski PUBLISHED kayıtların scheduler ile silindiği doğrulandı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Eski olsa bile PENDING kayıtların silinmediği test edildi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Uzun bekleyen ve yüksek retry alan kayıtlar için WARN logları üretildi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Testlerden sonra scheduler süreleri normal çalışma değerlerine geri alındı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40" b="1">
                <a:solidFill>
                  <a:srgbClr val="0B1020"/>
                </a:solidFill>
                <a:latin typeface="Aptos"/>
              </a:rPr>
              <a:t>Order, Inventory ve Payment Outbox tabloları uzun süreli çalışmaya uygun, temizlenebilir ve izlenebilir hale geldi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Docker Compose ile Tüm Sistemin Container Ortamına Taşınması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Servisleri IDE’den tek tek çalıştırmak yerine ortak Docker network üzerinde birlikte ayağa kaldırdım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IDE ÇALIŞTIRMA → DOCKER 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Altyapı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PostgreSQL + MongoDB + Kafka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500" b="1">
                <a:solidFill>
                  <a:srgbClr val="22D3EE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Platform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Eureka + Config + Gateway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Business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Customer + Product + Auth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feature/docker-compose branch’i üzerinde tüm sistem için docker-compose yapısı hazırlandı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PostgreSQL, MongoDB ve Kafka altyapı servisleri healthcheck ve named volume ile eklendi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Eureka Server, Config Server ve API Gateway için multi-stage Dockerfile yapısı oluşturuldu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Customer, Product ve Auth Service container ortamında çalışacak şekilde compose’a eklendi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depends_on + service_healthy ile başlangıç sırası daha kontrollü hale getirildi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Tek komutla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çalıştırma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Ortak network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servis adıyla iletişim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Servisler artık localhost portlarına değil Compose servis adlarına göre haberleşiyor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Veritabanları, Kafka ve platform servisleri aynı network içinde birlikte çalışıyor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Healthcheck yapısı, servislerin bağımlılıkları hazır olmadan başlamasını engelliyor</a:t>
            </a:r>
          </a:p>
          <a:p>
            <a:pPr algn="l"/>
            <a:r>
              <a:rPr sz="840" b="0">
                <a:solidFill>
                  <a:srgbClr val="F8FAFC"/>
                </a:solidFill>
                <a:latin typeface="Aptos"/>
              </a:rPr>
              <a:t>• Named volume kullanımı sayesinde container silinse bile PostgreSQL ve MongoDB verileri korunuyor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Proje, IDE’den bağımsız olarak tek komutla ayağa kaldırılabilen container tabanlı bir ortama taşındı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Container Ortamında Config, JWT ve Uçtan Uca Testler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Local ve Docker ortamı ayrıştırıldı; servis kayıtları, rol kontrolleri ve veri kalıcılığı test edildi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CONFIG + SERVICE DISCOVERY +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.env +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Config Repo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localhost →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service-name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Healthcheck +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volume testleri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Config Server’ın configrepo klasörü container’a read-only volume olarak bağlandı</a:t>
            </a:r>
          </a:p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EUREKA_DEFAULT_ZONE ve JWT_SECRET gibi değerler environment variable ile yönetildi</a:t>
            </a:r>
          </a:p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.env gerçek çalışma değerleri için, .env.example ise güvenli şablon olarak hazırlandı</a:t>
            </a:r>
          </a:p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Product Service MongoDB bağlantısı container içinde mongo:27017 kullanacak şekilde düzeltildi</a:t>
            </a:r>
          </a:p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Spring Boot 4.1 için Mongo property yolu spring.mongodb.uri olarak güncellendi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Testler ve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Eureka + Gateway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register / login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Mongo + Postgres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kalıcı veri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19" b="0" dirty="0">
                <a:solidFill>
                  <a:srgbClr val="F8FAFC"/>
                </a:solidFill>
                <a:latin typeface="Aptos"/>
              </a:rPr>
              <a:t>• Eureka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panelinde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CONFIG-SERVER, API-GATEWAY, CUSTOMER, PRODUCT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ve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AUTH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kayıtları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doğrulandı</a:t>
            </a:r>
            <a:endParaRPr sz="819" b="0" dirty="0">
              <a:solidFill>
                <a:srgbClr val="F8FAFC"/>
              </a:solidFill>
              <a:latin typeface="Aptos"/>
            </a:endParaRPr>
          </a:p>
          <a:p>
            <a:pPr algn="l"/>
            <a:r>
              <a:rPr sz="819" b="0" dirty="0">
                <a:solidFill>
                  <a:srgbClr val="F8FAFC"/>
                </a:solidFill>
                <a:latin typeface="Aptos"/>
              </a:rPr>
              <a:t>• Gateway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üzerinden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register, login</a:t>
            </a:r>
            <a:r>
              <a:rPr lang="tr-TR" sz="819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ve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ürün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oluşturma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senaryoları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test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edildi</a:t>
            </a:r>
            <a:endParaRPr sz="819" b="0" dirty="0">
              <a:solidFill>
                <a:srgbClr val="F8FAFC"/>
              </a:solidFill>
              <a:latin typeface="Aptos"/>
            </a:endParaRPr>
          </a:p>
          <a:p>
            <a:pPr algn="l"/>
            <a:r>
              <a:rPr sz="819" b="0" dirty="0">
                <a:solidFill>
                  <a:srgbClr val="F8FAFC"/>
                </a:solidFill>
                <a:latin typeface="Aptos"/>
              </a:rPr>
              <a:t>• USER, SELLER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ve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ADMIN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rollerinde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401 / 403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ayrımı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ve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JWT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doğrulama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akışı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kontrol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edildi</a:t>
            </a:r>
            <a:endParaRPr sz="819" b="0" dirty="0">
              <a:solidFill>
                <a:srgbClr val="F8FAFC"/>
              </a:solidFill>
              <a:latin typeface="Aptos"/>
            </a:endParaRPr>
          </a:p>
          <a:p>
            <a:pPr algn="l"/>
            <a:r>
              <a:rPr sz="819" b="0" dirty="0">
                <a:solidFill>
                  <a:srgbClr val="F8FAFC"/>
                </a:solidFill>
                <a:latin typeface="Aptos"/>
              </a:rPr>
              <a:t>• docker compose down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ile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verilerin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korunduğu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, down -v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ile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volume’ların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sıfırlandığı</a:t>
            </a:r>
            <a:r>
              <a:rPr sz="819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F8FAFC"/>
                </a:solidFill>
                <a:latin typeface="Aptos"/>
              </a:rPr>
              <a:t>doğrulandı</a:t>
            </a:r>
            <a:endParaRPr sz="819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80" b="1">
                <a:solidFill>
                  <a:srgbClr val="0B1020"/>
                </a:solidFill>
                <a:latin typeface="Aptos"/>
              </a:rPr>
              <a:t>PostgreSQL, MongoDB, Kafka, Eureka, Config, Gateway, Customer, Product ve Auth servisleri Compose üzerinden birlikte çalışır hale geldi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Saga Servislerinin Docker Compose Ortamına Entegrasyonu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Order, Inventory ve Payment servislerini container ortamına taşıyarak Saga akışını Compose üzerinde çalıştırmaya hazırladım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BUSINESS SAGA → DOCKER 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 dirty="0">
                <a:solidFill>
                  <a:srgbClr val="F8FAFC"/>
                </a:solidFill>
                <a:latin typeface="Aptos"/>
              </a:rPr>
              <a:t>Auth + Customer + Product</a:t>
            </a:r>
            <a:r>
              <a:rPr lang="tr-TR" sz="1100" b="0" dirty="0">
                <a:solidFill>
                  <a:srgbClr val="F8FAFC"/>
                </a:solidFill>
                <a:latin typeface="Aptos"/>
              </a:rPr>
              <a:t> vardı</a:t>
            </a:r>
            <a:endParaRPr sz="1100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 dirty="0">
                <a:solidFill>
                  <a:srgbClr val="F8FAFC"/>
                </a:solidFill>
                <a:latin typeface="Aptos"/>
              </a:rPr>
              <a:t>Saga </a:t>
            </a:r>
            <a:r>
              <a:rPr sz="1100" b="0" dirty="0" err="1">
                <a:solidFill>
                  <a:srgbClr val="F8FAFC"/>
                </a:solidFill>
                <a:latin typeface="Aptos"/>
              </a:rPr>
              <a:t>servisleri</a:t>
            </a:r>
            <a:endParaRPr sz="1100" b="0" dirty="0">
              <a:solidFill>
                <a:srgbClr val="F8FAFC"/>
              </a:solidFill>
              <a:latin typeface="Aptos"/>
            </a:endParaRPr>
          </a:p>
          <a:p>
            <a:pPr algn="ctr"/>
            <a:r>
              <a:rPr sz="1100" b="0" dirty="0">
                <a:solidFill>
                  <a:srgbClr val="F8FAFC"/>
                </a:solidFill>
                <a:latin typeface="Aptos"/>
              </a:rPr>
              <a:t>Order + Inventory + Payment</a:t>
            </a:r>
            <a:r>
              <a:rPr lang="tr-TR" sz="1100" b="0" dirty="0">
                <a:solidFill>
                  <a:srgbClr val="F8FAFC"/>
                </a:solidFill>
                <a:latin typeface="Aptos"/>
              </a:rPr>
              <a:t> ekledik</a:t>
            </a:r>
            <a:endParaRPr sz="1100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 dirty="0" err="1">
                <a:solidFill>
                  <a:srgbClr val="F8FAFC"/>
                </a:solidFill>
                <a:latin typeface="Aptos"/>
              </a:rPr>
              <a:t>Ortak</a:t>
            </a:r>
            <a:r>
              <a:rPr sz="1100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F8FAFC"/>
                </a:solidFill>
                <a:latin typeface="Aptos"/>
              </a:rPr>
              <a:t>modül</a:t>
            </a:r>
            <a:endParaRPr sz="1100" b="0" dirty="0">
              <a:solidFill>
                <a:srgbClr val="F8FAFC"/>
              </a:solidFill>
              <a:latin typeface="Aptos"/>
            </a:endParaRPr>
          </a:p>
          <a:p>
            <a:pPr algn="ctr"/>
            <a:r>
              <a:rPr sz="1100" b="0" dirty="0">
                <a:solidFill>
                  <a:srgbClr val="F8FAFC"/>
                </a:solidFill>
                <a:latin typeface="Aptos"/>
              </a:rPr>
              <a:t>common-events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feature/docker-compose branch’i üzerinde Compose yapısı Saga servisleriyle genişletildi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Order Service, Inventory Service ve Payment Service için Dockerfile ve compose tanımları hazırlandı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common-events modülü Docker build sürecinde önce install edilerek local Maven bağımlılığı problemi çözüldü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Config Server, Eureka, PostgreSQL ve Kafka bağımlılıkları environment variable ile Docker uyumlu hale getirildi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Her servis kendi portu, datasource ve Kafka bootstrap ayarlarıyla Compose network’üne dahil edildi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Saga akışı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container ortamında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Build süreci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bağımsızlaştı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Sipariş, stok rezervasyonu ve ödeme servisleri artık IDE’ye bağlı olmadan çalışabilir hale geldi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Docker build temiz Maven ortamında da common-events bağımlılığını çözebiliyor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Servisler localhost yerine postgres, kafka, config-server ve eureka-server isimleriyle haberleşiyor</a:t>
            </a:r>
          </a:p>
          <a:p>
            <a:pPr algn="l"/>
            <a:r>
              <a:rPr sz="850" b="0">
                <a:solidFill>
                  <a:srgbClr val="F8FAFC"/>
                </a:solidFill>
                <a:latin typeface="Aptos"/>
              </a:rPr>
              <a:t>• Payment Service yalnızca Kafka tabanlı dahili Saga servisi olarak bırakıldı; Gateway route’u eklenmedi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30" b="1">
                <a:solidFill>
                  <a:srgbClr val="0B1020"/>
                </a:solidFill>
                <a:latin typeface="Aptos"/>
              </a:rPr>
              <a:t>Order, Inventory ve Payment servisleri Compose ortamına eklenerek Saga altyapısı container seviyesine taşındı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Compose Üzerinde Saga Servisleri ve Doğrulamalar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Order, Inventory ve Payment servislerinin Config, Eureka, PostgreSQL, Kafka ve Outbox bileşenleri container ortamında doğrulandı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CONFIG + EUREKA + KAFKA SAGA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Docker config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service-name URL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Healthcheck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service_healthy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Outbox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publisher +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19" b="0">
                <a:solidFill>
                  <a:srgbClr val="F8FAFC"/>
                </a:solidFill>
                <a:latin typeface="Aptos"/>
              </a:rPr>
              <a:t>• Order, Inventory ve Payment servisleri Config Server’dan Docker ortamına uygun ayarları aldı</a:t>
            </a:r>
          </a:p>
          <a:p>
            <a:pPr algn="l"/>
            <a:r>
              <a:rPr sz="819" b="0">
                <a:solidFill>
                  <a:srgbClr val="F8FAFC"/>
                </a:solidFill>
                <a:latin typeface="Aptos"/>
              </a:rPr>
              <a:t>• KAFKA_BOOTSTRAP_SERVERS=kafka:29092 ve datasource adresleri postgres:5432 olacak şekilde yönetildi</a:t>
            </a:r>
          </a:p>
          <a:p>
            <a:pPr algn="l"/>
            <a:r>
              <a:rPr sz="819" b="0">
                <a:solidFill>
                  <a:srgbClr val="F8FAFC"/>
                </a:solidFill>
                <a:latin typeface="Aptos"/>
              </a:rPr>
              <a:t>• depends_on + service_healthy ile PostgreSQL, Kafka, Eureka ve Config Server hazır olmadan servislerin başlaması engellendi</a:t>
            </a:r>
          </a:p>
          <a:p>
            <a:pPr algn="l"/>
            <a:r>
              <a:rPr sz="819" b="0">
                <a:solidFill>
                  <a:srgbClr val="F8FAFC"/>
                </a:solidFill>
                <a:latin typeface="Aptos"/>
              </a:rPr>
              <a:t>• Saga servisleri için TCP tabanlı healthcheck eklendi ve container durumları healthy olarak doğrulandı</a:t>
            </a:r>
          </a:p>
          <a:p>
            <a:pPr algn="l"/>
            <a:r>
              <a:rPr sz="819" b="0">
                <a:solidFill>
                  <a:srgbClr val="F8FAFC"/>
                </a:solidFill>
                <a:latin typeface="Aptos"/>
              </a:rPr>
              <a:t>• Outbox Publisher, Maintenance ve Monitoring bileşenlerinin container ortamında başladığı kontrol edildi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Testler ve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070" b="0">
                <a:solidFill>
                  <a:srgbClr val="F8FAFC"/>
                </a:solidFill>
                <a:latin typeface="Aptos"/>
              </a:rPr>
              <a:t>Eureka kayıtları</a:t>
            </a:r>
          </a:p>
          <a:p>
            <a:pPr algn="ctr"/>
            <a:r>
              <a:rPr sz="1070" b="0">
                <a:solidFill>
                  <a:srgbClr val="F8FAFC"/>
                </a:solidFill>
                <a:latin typeface="Aptos"/>
              </a:rPr>
              <a:t>Order + Inventory + Payment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070" b="0">
                <a:solidFill>
                  <a:srgbClr val="F8FAFC"/>
                </a:solidFill>
                <a:latin typeface="Aptos"/>
              </a:rPr>
              <a:t>DB şemaları</a:t>
            </a:r>
          </a:p>
          <a:p>
            <a:pPr algn="ctr"/>
            <a:r>
              <a:rPr sz="1070" b="0">
                <a:solidFill>
                  <a:srgbClr val="F8FAFC"/>
                </a:solidFill>
                <a:latin typeface="Aptos"/>
              </a:rPr>
              <a:t>validate + outbox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780" b="0">
                <a:solidFill>
                  <a:srgbClr val="F8FAFC"/>
                </a:solidFill>
                <a:latin typeface="Aptos"/>
              </a:rPr>
              <a:t>• Eureka panelinde ORDER-SERVICE, INVENTORY-SERVICE ve PAYMENT-SERVICE kayıtları doğrulandı</a:t>
            </a:r>
          </a:p>
          <a:p>
            <a:pPr algn="l"/>
            <a:r>
              <a:rPr sz="780" b="0">
                <a:solidFill>
                  <a:srgbClr val="F8FAFC"/>
                </a:solidFill>
                <a:latin typeface="Aptos"/>
              </a:rPr>
              <a:t>• order_db, inventory_db ve payment_db içindeki domain, processed-event ve outbox tabloları kontrol edildi</a:t>
            </a:r>
          </a:p>
          <a:p>
            <a:pPr algn="l"/>
            <a:r>
              <a:rPr sz="780" b="0">
                <a:solidFill>
                  <a:srgbClr val="F8FAFC"/>
                </a:solidFill>
                <a:latin typeface="Aptos"/>
              </a:rPr>
              <a:t>• Hibernate ddl-auto: validate ile database-first yaklaşımının Docker ortamında da korunduğu görüldü</a:t>
            </a:r>
          </a:p>
          <a:p>
            <a:pPr algn="l"/>
            <a:r>
              <a:rPr sz="780" b="0">
                <a:solidFill>
                  <a:srgbClr val="F8FAFC"/>
                </a:solidFill>
                <a:latin typeface="Aptos"/>
              </a:rPr>
              <a:t>• docker compose config, build ve up komutlarıyla yeni servislerin build ve runtime süreci doğrulandı</a:t>
            </a:r>
          </a:p>
          <a:p>
            <a:pPr algn="l"/>
            <a:r>
              <a:rPr sz="780" b="0">
                <a:solidFill>
                  <a:srgbClr val="F8FAFC"/>
                </a:solidFill>
                <a:latin typeface="Aptos"/>
              </a:rPr>
              <a:t>• Sistem artık başarılı sipariş, yetersiz stok ve ödeme başarısızlığı senaryolarını Compose üzerinde test etmeye hazır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Tüm business servisleri Compose ortamına alındı; Kafka tabanlı Saga ve Outbox akışı container seviyesinde çalışmaya hazır hale geldi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Spring Boot Actuator ile Sağlık İzleme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Container çalışıyor bilgisinden uygulamanın gerçekten hazır olup olmadığını ölçen yapıya geçtim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PORT CHECK → ACTUATOR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Önce</a:t>
            </a:r>
            <a:endParaRPr sz="1100" b="0" dirty="0">
              <a:solidFill>
                <a:srgbClr val="F8FAFC"/>
              </a:solidFill>
              <a:latin typeface="Aptos"/>
            </a:endParaRP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TCP port kontrolü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Actuator</a:t>
            </a:r>
            <a:endParaRPr sz="1100" b="0" dirty="0">
              <a:solidFill>
                <a:srgbClr val="F8FAFC"/>
              </a:solidFill>
              <a:latin typeface="Aptos"/>
            </a:endParaRP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health + info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01952"/>
            <a:ext cx="2011680" cy="69494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993392"/>
            <a:ext cx="1865376" cy="51206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Probes</a:t>
            </a:r>
            <a:endParaRPr sz="1100" b="0" dirty="0">
              <a:solidFill>
                <a:srgbClr val="F8FAFC"/>
              </a:solidFill>
              <a:latin typeface="Aptos"/>
            </a:endParaRP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liveness + readiness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424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5632" y="2249424"/>
            <a:ext cx="457200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312724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74720"/>
            <a:ext cx="457200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Tüm uygulama ve platform servislerine Spring Boot Actuator eklendi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/actuator/health, /health/liveness, /health/readiness ve /info endpointleri açıldı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Ortak Actuator ayarları Config Server application.yml içine taşındı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Eureka ve Config Server kendi config’inden çalıştığı için Actuator ayarları ayrıca eklendi</a:t>
            </a:r>
          </a:p>
          <a:p>
            <a:pPr algn="l"/>
            <a:r>
              <a:rPr sz="835" b="0">
                <a:solidFill>
                  <a:srgbClr val="F8FAFC"/>
                </a:solidFill>
                <a:latin typeface="Aptos"/>
              </a:rPr>
              <a:t>• PostgreSQL, MongoDB, Config Server ve Eureka bağlantıları health endpointleriyle doğrulandı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27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33288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Gerçek hazır olma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kontrolü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511296"/>
            <a:ext cx="205740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365760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normAutofit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Kubernetes probe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temeli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434840"/>
            <a:ext cx="480060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44" b="0">
                <a:solidFill>
                  <a:srgbClr val="F8FAFC"/>
                </a:solidFill>
                <a:latin typeface="Aptos"/>
              </a:rPr>
              <a:t>• Container’ın ayakta olması Spring Boot uygulamasının hazır olduğu anlamına gelmez</a:t>
            </a:r>
          </a:p>
          <a:p>
            <a:pPr algn="l"/>
            <a:r>
              <a:rPr sz="844" b="0">
                <a:solidFill>
                  <a:srgbClr val="F8FAFC"/>
                </a:solidFill>
                <a:latin typeface="Aptos"/>
              </a:rPr>
              <a:t>• Readiness kontrolü servis trafik almaya hazır mı sorusuna cevap verir</a:t>
            </a:r>
          </a:p>
          <a:p>
            <a:pPr algn="l"/>
            <a:r>
              <a:rPr sz="844" b="0">
                <a:solidFill>
                  <a:srgbClr val="F8FAFC"/>
                </a:solidFill>
                <a:latin typeface="Aptos"/>
              </a:rPr>
              <a:t>• Liveness kontrolü uygulama çalışmaya devam edebilir mi bilgisini sağlar</a:t>
            </a:r>
          </a:p>
          <a:p>
            <a:pPr algn="l"/>
            <a:r>
              <a:rPr sz="844" b="0">
                <a:solidFill>
                  <a:srgbClr val="F8FAFC"/>
                </a:solidFill>
                <a:latin typeface="Aptos"/>
              </a:rPr>
              <a:t>• Bu yapı ileride Kubernetes livenessProbe ve readinessProbe için temel oluşturur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Mikroservisler artık yalnızca çalışıyor mu değil, gerçekten sağlıklı ve hazır mı sorusuna Actuator ile cevap verebiliyor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Docker Healthcheck ve Güvenlik Düzenlemeleri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Health endpointleri güvenli şekilde açıldı; Docker healthcheck artık Actuator readiness üzerinden çalışıyor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ACTUATOR → DOCKER READINESS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SecurityConfig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permitAll health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Dockerfile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runtime curl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Docker healthcheck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/readiness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JWT Resource Server olan servislerde /actuator/health/** ve /actuator/info endpointleri token olmadan erişilebilir yapıldı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Business endpointleri korunmaya devam etti; örneğin /api/v1/customers/me JWT olmadan 401 dönüyor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JWT secret dönüşümü secretKey.getBytes(StandardCharsets.UTF_8) olarak standartlaştırıldı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Runtime Docker image’larına curl eklendi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TCP tabanlı healthcheck komutları Actuator readiness endpointine bağlandı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Testler ve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Host + container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curl testleri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Docker Compose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healthy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Host üzerinden ve container içinden /actuator/health, liveness ve readiness endpointleri test edildi</a:t>
            </a:r>
          </a:p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Order Service’te Config Server, PostgreSQL, Eureka, liveness ve readiness durumları UP görüldü</a:t>
            </a:r>
          </a:p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Product Service tarafında MongoDB health indicator doğrulandı</a:t>
            </a:r>
          </a:p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Docker Compose artık portun açık olmasını değil, uygulamanın readiness durumunu kontrol ediyor</a:t>
            </a:r>
          </a:p>
          <a:p>
            <a:pPr algn="l"/>
            <a:r>
              <a:rPr sz="815" b="0">
                <a:solidFill>
                  <a:srgbClr val="F8FAFC"/>
                </a:solidFill>
                <a:latin typeface="Aptos"/>
              </a:rPr>
              <a:t>• feature/spring-boot-actuator branch’inde servis bazlı commitlerle takip edilebilir Git geçmişi oluşturuldu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Actuator entegrasyonu ile sistem Micrometer, Prometheus, Grafana ve Kubernetes health probe aşamalarına hazır hale geldi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50" b="1">
                <a:solidFill>
                  <a:srgbClr val="F8FAFC"/>
                </a:solidFill>
                <a:latin typeface="Aptos"/>
              </a:rPr>
              <a:t>Micrometer ile Teknik Metriklerin İzlenmesi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Health kontrolünden sonra uygulamanın nasıl çalıştığını ölçen metrik altyapısını ekledim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HEALTH STATUS →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Actuator Health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sağlıklı mı?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Micrometer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nasıl çalışıyor?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Metrics Endpoint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/actuator/metrics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Actuator yapılandırmasına /actuator/metrics endpoint’i eklendi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management.metrics.tags.application ile her metriğe servis adı tag’i verildi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Ortak ayarlar Config Server application.yml içine taşındı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Eureka Server ve Config Server için metrics ayarları kendi application.yml dosyalarına ayrıca eklendi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JWT Resource Server servislerinde /actuator/metrics/** endpoint’i permitAll yapıldı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Health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anlık durum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Metrics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davranış verisi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Health endpoint’i yalnızca sistem sağlıklı mı sorusuna cevap verir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Metrics endpoint’i sistemin ne kadar yoğun ve nasıl çalıştığını gösterir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application tag’i sayesinde metric değerleri servis bazında ayrıştırılabilir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Bu yapı Prometheus ve Grafana entegrasyonu için temel oluşturur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Micrometer ile mikroservisler artık yalnızca sağlıklı mı değil, nasıl çalışıyor sorusuna da cevap verebiliyor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50" b="1">
                <a:solidFill>
                  <a:srgbClr val="F8FAFC"/>
                </a:solidFill>
                <a:latin typeface="Aptos"/>
              </a:rPr>
              <a:t>Saga Akışı İçin İş Metrikleri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Order, Inventory ve Payment servislerinde iş akışını ölçen özel metrikler oluşturdum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TEKNİK METRİKLER → İŞ METRİKLERİ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Order Service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created / paid / failed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Inventory Service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reserved / released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120" b="0">
                <a:solidFill>
                  <a:srgbClr val="F8FAFC"/>
                </a:solidFill>
                <a:latin typeface="Aptos"/>
              </a:rPr>
              <a:t>Payment Service</a:t>
            </a:r>
          </a:p>
          <a:p>
            <a:pPr algn="ctr"/>
            <a:r>
              <a:rPr sz="1120" b="0">
                <a:solidFill>
                  <a:srgbClr val="F8FAFC"/>
                </a:solidFill>
                <a:latin typeface="Aptos"/>
              </a:rPr>
              <a:t>initialized / succeeded / failed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OrderMetrics component’i ile sipariş oluşturma, paid, inventory failed ve payment failed sayaçları eklendi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InventoryMetrics ile reservation created, failed, confirmed ve released metrikleri oluşturuldu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PaymentMetrics ile initialized, already initialized, succeeded ve failed ödeme sayaçları eklendi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Sipariş oluşturma, reservation processing ve payment processing süreleri Timer ile ölçüldü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Counter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olay sayısı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Timer</a:t>
            </a:r>
          </a:p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işlem süresi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5" b="0">
                <a:solidFill>
                  <a:srgbClr val="F8FAFC"/>
                </a:solidFill>
                <a:latin typeface="Aptos"/>
              </a:rPr>
              <a:t>• Hazır teknik metrikler JVM, HTTP ve altyapı davranışını gösterir</a:t>
            </a:r>
          </a:p>
          <a:p>
            <a:pPr algn="l"/>
            <a:r>
              <a:rPr sz="865" b="0">
                <a:solidFill>
                  <a:srgbClr val="F8FAFC"/>
                </a:solidFill>
                <a:latin typeface="Aptos"/>
              </a:rPr>
              <a:t>• Özel iş metrikleri Saga akışındaki domain olaylarını görünür hale getirir</a:t>
            </a:r>
          </a:p>
          <a:p>
            <a:pPr algn="l"/>
            <a:r>
              <a:rPr sz="865" b="0">
                <a:solidFill>
                  <a:srgbClr val="F8FAFC"/>
                </a:solidFill>
                <a:latin typeface="Aptos"/>
              </a:rPr>
              <a:t>• Başarılı ve başarısız sipariş, ödeme ve stok süreçleri sayısal olarak takip edilebilir</a:t>
            </a:r>
          </a:p>
          <a:p>
            <a:pPr algn="l"/>
            <a:r>
              <a:rPr sz="865" b="0">
                <a:solidFill>
                  <a:srgbClr val="F8FAFC"/>
                </a:solidFill>
                <a:latin typeface="Aptos"/>
              </a:rPr>
              <a:t>• İşlem süreleri ileride performans analizi ve alarm kuralları için kullanılabilir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ptos"/>
              </a:rPr>
              <a:t>Order, Inventory ve Payment servisleri teknik metriklerin yanında e-ticaret akışına özel iş metrikleri de üretmeye başladı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Prometheus ile Merkezi Metrik Toplama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Micrometer metriklerini her servisten tek tek bakmak yerine Prometheus ile merkezi olarak toplamaya geçtim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SERVİS METRİKLERİ → PROMETHEUS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Mikroservisler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Micrometer metrics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/actuator/prometheus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Prometheus formatı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Prometheus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scrape + TSDB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Tüm çalışan mikroservislere micrometer-registry-prometheus dependency’si eklendi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Actuator exposure listesine prometheus endpoint’i dahil edildi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JWT korumalı servislerde /actuator/prometheus endpoint’i permitAll yapıldı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Proje kökünde prometheus.yml oluşturuldu ve her servis ayrı scrape target olarak tanımlandı</a:t>
            </a:r>
          </a:p>
          <a:p>
            <a:pPr algn="l"/>
            <a:r>
              <a:rPr sz="860" b="0">
                <a:solidFill>
                  <a:srgbClr val="F8FAFC"/>
                </a:solidFill>
                <a:latin typeface="Aptos"/>
              </a:rPr>
              <a:t>• Prometheus Docker Compose’a prom/prometheus:v3.13.1 image’ı ve prometheus_data volume’u ile eklendi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Tek tek endpoint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yerine merkez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Zaman serisi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saklama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/actuator/metrics servis bazında kontrol ediliyordu; Prometheus bunu tek noktada topluyor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Servis yeniden başlasa bile Prometheus kendi zaman serisi verisinde geçmiş ölçümleri tutuyor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Docker içinde localhost yerine service-name kullanılarak doğru container hedefleri scrape edildi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JVM, HTTP, database ve custom business metrikleri aynı izleme altyapısına dahil edildi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B1020"/>
                </a:solidFill>
                <a:latin typeface="Aptos"/>
              </a:rPr>
              <a:t>Mikroservisler artık /actuator/prometheus üzerinden merkezi Prometheus sistemine metrik sağlayabiliyor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PromQL Sorguları ve Target Doğrulaması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Prometheus target ekranı ve PromQL sorgularıyla teknik ve iş metriklerinin merkezi olarak toplandığını doğruladım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PROMETHEUS TARGETS → PROMQL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Targets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UP / Ready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PromQL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up + business metrics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Grafana hazırlığı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dashboards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http://localhost:9090/targets ekranında Eureka, Config, Gateway ve tüm business servislerinin UP olduğu doğrulandı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up{job="order-service"} sorgusuyla scrape bağlantısı test edildi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ecommerce_orders_created_total, ecommerce_orders_paid_total ve ecommerce_payments_succeeded_total gibi custom metrikler sorgulandı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application, instance ve job tag’lerinin doğru geldiği kontrol edildi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Mimari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increase()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belirli aralık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rate()</a:t>
            </a:r>
          </a:p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işlem hızı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Counter değerleri uygulama restart sonrası sıfırlanabilir; Prometheus geçmiş ölçüm noktalarını saklar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increase(metric[10m]) ile belirli süredeki artış, rate(metric[5m]) ile işlem hızı analiz edilebilir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Order, Inventory ve Payment iş metrikleri Prometheus üzerinden merkezi olarak izlenebilir hale geldi</a:t>
            </a:r>
          </a:p>
          <a:p>
            <a:pPr algn="l"/>
            <a:r>
              <a:rPr sz="855" b="0">
                <a:solidFill>
                  <a:srgbClr val="F8FAFC"/>
                </a:solidFill>
                <a:latin typeface="Aptos"/>
              </a:rPr>
              <a:t>• Bir sonraki adımda bu metrikler Grafana dashboard’larıyla görselleştirilecek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1">
                <a:solidFill>
                  <a:srgbClr val="0B1020"/>
                </a:solidFill>
                <a:latin typeface="Aptos"/>
              </a:rPr>
              <a:t>Prometheus ile teknik ve business metrikler tek noktada toplanıyor; Grafana görselleştirmesi için temel tamamlandı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Grafana ile Metriklerin Görselleştirilmesi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Prometheus üzerinde toplanan metrikleri okunabilir dashboard ve grafiklere taşıdım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PROMETHEUS → GRAFANA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Prometheus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metric datasource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Grafana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visual dashboard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Dashboard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panel seti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Grafana Docker Compose yapısına grafana/grafana:13.1.1 image’ı ile eklendi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grafana_data named volume’u tanımlanarak dashboard ve ayarların kalıcı kalması sağlandı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/api/health endpoint’i üzerinden Grafana container healthcheck’i oluşturuldu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Prometheus datasource’u provisioning ile otomatik kurulacak şekilde hazırlandı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Bağlantıda Docker network içindeki http://prometheus:9090 adresi kullanıldı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Neden Önemli?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PromQL yerine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görsel takip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Tek ekran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sistem görünümü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Prometheus sorguları tek tek çalıştırmak yerine paneller üzerinden okunabilir hale geldi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Servis sağlığı, HTTP trafiği, JVM kaynak kullanımı ve Saga sonuçları aynı dashboard’da toplandı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Dashboard yeni ortamda elle kurulmadan otomatik yüklenebilir hale getirildi</a:t>
            </a:r>
          </a:p>
          <a:p>
            <a:pPr algn="l"/>
            <a:r>
              <a:rPr sz="880" b="0">
                <a:solidFill>
                  <a:srgbClr val="F8FAFC"/>
                </a:solidFill>
                <a:latin typeface="Aptos"/>
              </a:rPr>
              <a:t>• Observability zinciri Micrometer → Prometheus → Grafana olarak tamamlandı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40" b="1">
                <a:solidFill>
                  <a:srgbClr val="0B1020"/>
                </a:solidFill>
                <a:latin typeface="Aptos"/>
              </a:rPr>
              <a:t>Grafana ile Prometheus metrikleri tek bakışta yorumlanabilir dashboard’lara dönüştürüldü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601968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Aptos"/>
              </a:rPr>
              <a:t>E-Commerce Microservice Backend • Staj Süreci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"/>
            <a:ext cx="1234440" cy="2834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39319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B1020"/>
                </a:solidFill>
                <a:latin typeface="Aptos"/>
              </a:rPr>
              <a:t>GÜN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Dashboard Panelleri, Provisioning ve Testler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784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E-Commerce Microservices Overview dashboard’u ile sağlık, performans ve iş sonuçlarını izledim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DASHBOARD + PROVISIONING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224028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Health panelleri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up / status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0128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1691640"/>
            <a:ext cx="23317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Business paneller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orders / payment / inventory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249424"/>
            <a:ext cx="576072" cy="0"/>
          </a:xfrm>
          <a:prstGeom prst="line">
            <a:avLst/>
          </a:prstGeom>
          <a:ln w="1651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88352" y="1828800"/>
            <a:ext cx="2880360" cy="8412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65960"/>
            <a:ext cx="269748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Technical paneller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Aptos"/>
              </a:rPr>
              <a:t>HTTP / JVM / CPU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Neler Yaptım?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84448"/>
            <a:ext cx="480060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E-Commerce Microservices Overview isimli dashboard oluşturuldu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Microservice Health, Service Status, Orders Created, Orders Paid ve failure panelleri eklendi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Payment Results ve Inventory Reservation Results panelleriyle Saga sonuçları görünür hale getirildi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HTTP Request Rate, Average Response Time, JVM Heap Memory ve CPU panelleri hazırlandı</a:t>
            </a:r>
          </a:p>
          <a:p>
            <a:pPr algn="l"/>
            <a:r>
              <a:rPr sz="830" b="0">
                <a:solidFill>
                  <a:srgbClr val="F8FAFC"/>
                </a:solidFill>
                <a:latin typeface="Aptos"/>
              </a:rPr>
              <a:t>• Dashboard JSON olarak grafana/dashboards klasörüne eklendi ve provisioning ile otomatik yüklenir hale getirildi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24612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"/>
              </a:rPr>
              <a:t>Testler ve Kazanım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044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Service health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9 servis 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621024"/>
            <a:ext cx="2057400" cy="67665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Kalıcı dashboard</a:t>
            </a:r>
          </a:p>
          <a:p>
            <a:pPr algn="ctr"/>
            <a:r>
              <a:rPr sz="1100" b="0">
                <a:solidFill>
                  <a:srgbClr val="F8FAFC"/>
                </a:solidFill>
                <a:latin typeface="Aptos"/>
              </a:rPr>
              <a:t>named volume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498848"/>
            <a:ext cx="475488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Grafana container’ın healthy olduğu doğrulandı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Prometheus datasource’u otomatik oluştu ve bütün Spring servisleri UP görüntülendi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Business, HTTP ve JVM metrikleri dashboard üzerinde doğru panellere geldi</a:t>
            </a:r>
          </a:p>
          <a:p>
            <a:pPr algn="l"/>
            <a:r>
              <a:rPr sz="869" b="0">
                <a:solidFill>
                  <a:srgbClr val="F8FAFC"/>
                </a:solidFill>
                <a:latin typeface="Aptos"/>
              </a:rPr>
              <a:t>• Container yeniden oluşturulduğunda datasource ve dashboard’un tekrar yüklendiği test edildi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06440"/>
            <a:ext cx="10012680" cy="32918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9829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40" b="1">
                <a:solidFill>
                  <a:srgbClr val="0B1020"/>
                </a:solidFill>
                <a:latin typeface="Aptos"/>
              </a:rPr>
              <a:t>Sağlık, performans ve Saga iş akışı sonuçları artık tek Grafana dashboard’u üzerinden izlenebiliyor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9365</Words>
  <Application>Microsoft Office PowerPoint</Application>
  <PresentationFormat>Geniş ekran</PresentationFormat>
  <Paragraphs>1771</Paragraphs>
  <Slides>68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68</vt:i4>
      </vt:variant>
    </vt:vector>
  </HeadingPairs>
  <TitlesOfParts>
    <vt:vector size="74" baseType="lpstr">
      <vt:lpstr>Aptos</vt:lpstr>
      <vt:lpstr>Aptos Display</vt:lpstr>
      <vt:lpstr>Aptos Mono</vt:lpstr>
      <vt:lpstr>Arial</vt:lpstr>
      <vt:lpstr>Cascadia Mono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Microservice Backend</dc:title>
  <dc:subject>Spring Boot Microservice E-commerce Staj Sunumu</dc:subject>
  <dc:creator>OpenAI</dc:creator>
  <cp:lastModifiedBy>Bedirhan Turkman</cp:lastModifiedBy>
  <cp:revision>14</cp:revision>
  <dcterms:created xsi:type="dcterms:W3CDTF">2026-07-02T20:30:00Z</dcterms:created>
  <dcterms:modified xsi:type="dcterms:W3CDTF">2026-07-24T12:53:36Z</dcterms:modified>
</cp:coreProperties>
</file>